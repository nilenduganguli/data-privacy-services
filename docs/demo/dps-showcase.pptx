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anchor="t" lIns="73152" rIns="73152" tIns="43891" bIns="43891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Data Privacy Services: one Privacy Engine, three entry points, two outcomes, and privacy we measure rather than claim.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Everything you will see runs on a local stack with synthetic seed data. The numbers on these slides were measured, by the rehearsal named in the footer and, for throughput, by the bench runs, not taken from a brochure.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anchor="t" lIns="73152" rIns="73152" tIns="43891" bIns="43891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Test, UAT, analytics, vendors and now LLM pipelines all want realistic data, and too often they get production data.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DPS gives them a protected copy through the door the data already uses: an API call, a database job or a web front end.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Two outcomes: obfuscated data the owner can reverse with their own key, or synthetic data with no path back to a real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anchor="t" lIns="73152" rIns="73152" tIns="43891" bIns="43891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Three promises, each with a mechanism and a measurement.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No LLM ever sees a raw value: the engine works locally, the gateway receives typed placeholders only, and a counter per tenant proves zero.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The caller holds the key: DPS returns it and keeps nothing, so nobody can reverse a token without it, including us.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Evidence, not claims: every job leaves an evidence pack you can hand to an auditor.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anchor="t" lIns="73152" rIns="73152" tIns="43891" bIns="43891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One container image runs four roles: the app serves the API and this console, the worker runs database jobs, the browser worker runs scans, and migrate owns the schema.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The metadata database holds jobs, hashed API keys, evidence and the audit log, never a customer value.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The only line to an LLM is the dashed one: placeholders only. The whole thing deploys to OpenShift with kustomize.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anchor="t" lIns="73152" rIns="73152" tIns="43891" bIns="43891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A KYC record goes in; every finding names its detector, its score and the rule that decided its treatment.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Obfuscation keeps formats, so downstream systems keep working: an identifier still looks like that identifier, an e-mail keeps its domain.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The key card belongs to the bank: DPS stored nothing, and reveal with that key gave back exactly the input.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The counter of raw values sent to an LLM read zero for this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anchor="t" lIns="73152" rIns="73152" tIns="43891" bIns="43891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A scanned KYC page: OCR reads it, the engine finds the sensitive values, and the pages are rebuilt as images with those values burned out.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Nothing survives in a text layer, so nothing hidden can be copied out; an OCR re-read of every page checks that no original is still readable.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The text output still comes back with the key, so the owner can reveal it; the redacted PDF is irreversible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anchor="t" lIns="73152" rIns="73152" tIns="43891" bIns="43891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Layer 2 works on whole schemas: discover the columns, review the heat-map, run in partitions with checkpoints, then a verification sweep and a sealed evidence pack.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These are this rehearsal's jobs on Oracle, MongoDB and PostgreSQL, and the throughput we measured with the bench tool on one machine; production scales out with more workers.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anchor="t" lIns="73152" rIns="73152" tIns="43891" bIns="43891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A job group gives Oracle, MongoDB and PostgreSQL one key, so the same customer id becomes the same token in every system.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The consistency check samples customer ids and joins the masked copies: every pair matched, with no lookup table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anchor="t" lIns="73152" rIns="73152" tIns="43891" bIns="43891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For synthetic copies the copula engine is fitted, previewed and measured before a single row is written.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Fidelity says the shape survived; exact-row matches must be zero, and a real row is rejected in flight.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The nearest-neighbour distance ratio and the membership-inference test say how far the synthetic rows sit from real people; utility says a model trained on synthetic data still works on real data.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That is why the label reads: synthetic, measured, not claimed anonymous.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anchor="t" lIns="73152" rIns="73152" tIns="43891" bIns="43891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The scanner walked the onboarding journey, classified every field and filled each screen with a synthetic persona and, flipped, with obfuscated tokens.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The demo site counts every POST, every other non-GET request and every form sent by GET: zero, although it served every page of the scan. DPS has no submit path, and the browser blocked every send from a filled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anchor="t" lIns="73152" rIns="73152" tIns="43891" bIns="43891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Evidence packs name the policy hash, the methods, the verification and the measurements, and print as a PDF.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In staging and production the service will not start when a posture check enforced at boot fails; this local stack evaluates the same checks as if it were production and only reports them, so the production-only ones fail here by design.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The rehearsal also proved that a rotated key stops working and that retention runs.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And the counter that matters most: raw PII sent to an LLM, zero, for this 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anchor="t" lIns="73152" rIns="73152" tIns="43891" bIns="43891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The owner took the four decisions that shape the platform: where it lives, who holds the key, how jobs write, and that the scanner never submits.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The rest stand at the design defaults, and one is still open: the scale targets, which we set together next.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Next steps: scale targets, the FF1 licence review, the bank's tokenization service, and single sign-on for the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8840"/>
            <a:ext cx="10515600" cy="1188720"/>
          </a:xfrm>
        </p:spPr>
        <p:txBody>
          <a:bodyPr wrap="square" anchor="b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Helvetica Neue"/>
              </a:rPr>
              <a:t>Data Privacy Services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DD4BF"/>
                </a:solidFill>
                <a:latin typeface="Helvetica Neue"/>
              </a:rPr>
              <a:t>PRIVACY CONSOLE · v0.2.0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A9B4CC"/>
                </a:solidFill>
                <a:latin typeface="Helvetica Neue"/>
              </a:rPr>
              <a:t>One Privacy Engine, three entry points, two outcomes, measured privacy. No LLM ever sees a raw value.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09160"/>
            <a:ext cx="41148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25880" y="4709160"/>
            <a:ext cx="41148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4709160"/>
            <a:ext cx="41148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4709160"/>
            <a:ext cx="411480" cy="73152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hearsal"/>
          <p:cNvSpPr txBox="1"/>
          <p:nvPr/>
        </p:nvSpPr>
        <p:spPr>
          <a:xfrm>
            <a:off x="822960" y="4983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9B4CC"/>
                </a:solidFill>
                <a:latin typeface="Helvetica Neue"/>
              </a:rPr>
              <a:t>Built from the rehearsal of 15 October 2026: the scripted demo ran end to end in 3:25.</a:t>
            </a:r>
          </a:p>
        </p:txBody>
      </p:sp>
      <p:sp>
        <p:nvSpPr>
          <p:cNvPr id="10" name="chrome:footer"/>
          <p:cNvSpPr txBox="1"/>
          <p:nvPr/>
        </p:nvSpPr>
        <p:spPr>
          <a:xfrm>
            <a:off x="548640" y="643737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9B4CC"/>
                </a:solidFill>
                <a:latin typeface="Helvetica Neue"/>
              </a:rPr>
              <a:t>Data Privacy Services · Privacy Console · rehearsal 2026-10-15 18:28 UTC · commit 37ec781</a:t>
            </a:r>
          </a:p>
        </p:txBody>
      </p:sp>
      <p:sp>
        <p:nvSpPr>
          <p:cNvPr id="11" name="chrome:page"/>
          <p:cNvSpPr txBox="1"/>
          <p:nvPr/>
        </p:nvSpPr>
        <p:spPr>
          <a:xfrm>
            <a:off x="10177272" y="643737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9B4CC"/>
                </a:solidFill>
                <a:latin typeface="Helvetica Neue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E141B"/>
                </a:solidFill>
                <a:latin typeface="Helvetica Neue"/>
              </a:rPr>
              <a:t>Customer data keeps reaching places it should not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WHY DPS</a:t>
            </a:r>
          </a:p>
        </p:txBody>
      </p:sp>
      <p:sp>
        <p:nvSpPr>
          <p:cNvPr id="4" name="lede"/>
          <p:cNvSpPr txBox="1"/>
          <p:nvPr/>
        </p:nvSpPr>
        <p:spPr>
          <a:xfrm>
            <a:off x="548640" y="122529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D5875"/>
                </a:solidFill>
                <a:latin typeface="Helvetica Neue"/>
              </a:rPr>
              <a:t>Test, UAT, analytics, vendors and LLM pipelines all want realistic data. DPS hands them a protected copy instead, through whichever door the data already uses.</a:t>
            </a:r>
          </a:p>
        </p:txBody>
      </p:sp>
      <p:sp>
        <p:nvSpPr>
          <p:cNvPr id="5" name="card:L1 · API"/>
          <p:cNvSpPr/>
          <p:nvPr/>
        </p:nvSpPr>
        <p:spPr>
          <a:xfrm>
            <a:off x="548640" y="201168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201168" rIns="201168" tIns="120701" bIns="120701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L1 · API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E141B"/>
                </a:solidFill>
                <a:latin typeface="Helvetica Neue"/>
              </a:rPr>
              <a:t>JSON, text and documents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D5875"/>
                </a:solidFill>
                <a:latin typeface="Helvetica Neue"/>
              </a:rPr>
              <a:t>One HTTPS call de-identifies a payload, redacts a scanned PDF or mints test fixtures.</a:t>
            </a:r>
          </a:p>
        </p:txBody>
      </p:sp>
      <p:sp>
        <p:nvSpPr>
          <p:cNvPr id="6" name="card:L2 · Connectors"/>
          <p:cNvSpPr/>
          <p:nvPr/>
        </p:nvSpPr>
        <p:spPr>
          <a:xfrm>
            <a:off x="4297680" y="201168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201168" rIns="201168" tIns="120701" bIns="120701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L2 · CONNECTORS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E141B"/>
                </a:solidFill>
                <a:latin typeface="Helvetica Neue"/>
              </a:rPr>
              <a:t>Oracle, PostgreSQL, MongoDB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D5875"/>
                </a:solidFill>
                <a:latin typeface="Helvetica Neue"/>
              </a:rPr>
              <a:t>Batch jobs: discover, review, run, evidence. Masked or synthetic UAT copies, consistent across systems.</a:t>
            </a:r>
          </a:p>
        </p:txBody>
      </p:sp>
      <p:sp>
        <p:nvSpPr>
          <p:cNvPr id="7" name="card:L3 · UI scanner"/>
          <p:cNvSpPr/>
          <p:nvPr/>
        </p:nvSpPr>
        <p:spPr>
          <a:xfrm>
            <a:off x="8046720" y="201168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201168" rIns="201168" tIns="120701" bIns="120701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L3 · UI SCANNER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E141B"/>
                </a:solidFill>
                <a:latin typeface="Helvetica Neue"/>
              </a:rPr>
              <a:t>Web front ends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D5875"/>
                </a:solidFill>
                <a:latin typeface="Helvetica Neue"/>
              </a:rPr>
              <a:t>What each screen collects, and a parallel view filled with safe data. Nothing is ever submitted.</a:t>
            </a:r>
          </a:p>
        </p:txBody>
      </p:sp>
      <p:sp>
        <p:nvSpPr>
          <p:cNvPr id="8" name="outcome:Obfuscated"/>
          <p:cNvSpPr/>
          <p:nvPr/>
        </p:nvSpPr>
        <p:spPr>
          <a:xfrm>
            <a:off x="548640" y="452628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201168" rIns="201168" tIns="120701" bIns="120701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766E"/>
                </a:solidFill>
                <a:latin typeface="Helvetica Neue"/>
              </a:rPr>
              <a:t>Obfuscated  </a:t>
            </a:r>
            <a:r>
              <a:rPr sz="1300" b="0">
                <a:solidFill>
                  <a:srgbClr val="4D5875"/>
                </a:solidFill>
                <a:latin typeface="Helvetica Neue"/>
              </a:rPr>
              <a:t>format kept, reversible only with the key the caller holds</a:t>
            </a:r>
          </a:p>
        </p:txBody>
      </p:sp>
      <p:sp>
        <p:nvSpPr>
          <p:cNvPr id="9" name="outcome:Synthetic"/>
          <p:cNvSpPr/>
          <p:nvPr/>
        </p:nvSpPr>
        <p:spPr>
          <a:xfrm>
            <a:off x="6172200" y="452628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E6F2EE"/>
          </a:solidFill>
          <a:ln w="9525">
            <a:solidFill>
              <a:srgbClr val="047857"/>
            </a:solidFill>
          </a:ln>
        </p:spPr>
        <p:txBody>
          <a:bodyPr rtlCol="0" anchor="ctr" wrap="square" lIns="201168" rIns="201168" tIns="120701" bIns="120701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47857"/>
                </a:solidFill>
                <a:latin typeface="Helvetica Neue"/>
              </a:rPr>
              <a:t>Synthetic  </a:t>
            </a:r>
            <a:r>
              <a:rPr sz="1300" b="0">
                <a:solidFill>
                  <a:srgbClr val="4D5875"/>
                </a:solidFill>
                <a:latin typeface="Helvetica Neue"/>
              </a:rPr>
              <a:t>realistic and consistent, with no path back to the original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E89A6"/>
                </a:solidFill>
                <a:latin typeface="Helvetica Neue"/>
              </a:rPr>
              <a:t>Three entry points, two outcomes, one policy model, one detector stack, one transformation engine.</a:t>
            </a:r>
          </a:p>
        </p:txBody>
      </p:sp>
      <p:sp>
        <p:nvSpPr>
          <p:cNvPr id="11" name="chrome:footer"/>
          <p:cNvSpPr txBox="1"/>
          <p:nvPr/>
        </p:nvSpPr>
        <p:spPr>
          <a:xfrm>
            <a:off x="548640" y="643737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Data Privacy Services · Privacy Console · rehearsal 2026-10-15 18:28 UTC · commit 37ec781</a:t>
            </a:r>
          </a:p>
        </p:txBody>
      </p:sp>
      <p:sp>
        <p:nvSpPr>
          <p:cNvPr id="12" name="chrome:page"/>
          <p:cNvSpPr txBox="1"/>
          <p:nvPr/>
        </p:nvSpPr>
        <p:spPr>
          <a:xfrm>
            <a:off x="10177272" y="643737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E141B"/>
                </a:solidFill>
                <a:latin typeface="Helvetica Neue"/>
              </a:rPr>
              <a:t>Three promises, built to be proved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PRINCIPLES</a:t>
            </a:r>
          </a:p>
        </p:txBody>
      </p:sp>
      <p:sp>
        <p:nvSpPr>
          <p:cNvPr id="4" name="lede"/>
          <p:cNvSpPr txBox="1"/>
          <p:nvPr/>
        </p:nvSpPr>
        <p:spPr>
          <a:xfrm>
            <a:off x="548640" y="122529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D5875"/>
                </a:solidFill>
                <a:latin typeface="Helvetica Neue"/>
              </a:rPr>
              <a:t>Each promise has a mechanism in the code and a measurement in the evidence.</a:t>
            </a:r>
          </a:p>
        </p:txBody>
      </p:sp>
      <p:sp>
        <p:nvSpPr>
          <p:cNvPr id="5" name="card:P1"/>
          <p:cNvSpPr/>
          <p:nvPr/>
        </p:nvSpPr>
        <p:spPr>
          <a:xfrm>
            <a:off x="548640" y="2011680"/>
            <a:ext cx="35661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219456" rIns="219456" tIns="131674" bIns="131674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Helvetica Neue"/>
              </a:rPr>
              <a:t>P1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0E141B"/>
                </a:solidFill>
                <a:latin typeface="Helvetica Neue"/>
              </a:rPr>
              <a:t>The LLM never sees raw PII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4D5875"/>
                </a:solidFill>
                <a:latin typeface="Helvetica Neue"/>
              </a:rPr>
              <a:t>Detection and transformation run locally. The gateway receives typed placeholders only, a verifier checks every call, and a per-tenant counter of raw values sent must read zero.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Helvetica Neue"/>
              </a:rPr>
              <a:t>Proved by: </a:t>
            </a:r>
            <a:r>
              <a:rPr sz="1200" b="0">
                <a:solidFill>
                  <a:srgbClr val="4D5875"/>
                </a:solidFill>
                <a:latin typeface="Helvetica Neue"/>
              </a:rPr>
              <a:t>the counter on Overview, in Reports and in every API report block</a:t>
            </a:r>
          </a:p>
        </p:txBody>
      </p:sp>
      <p:sp>
        <p:nvSpPr>
          <p:cNvPr id="6" name="accent:P1"/>
          <p:cNvSpPr/>
          <p:nvPr/>
        </p:nvSpPr>
        <p:spPr>
          <a:xfrm>
            <a:off x="548640" y="2011680"/>
            <a:ext cx="3566160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:D2"/>
          <p:cNvSpPr/>
          <p:nvPr/>
        </p:nvSpPr>
        <p:spPr>
          <a:xfrm>
            <a:off x="4297680" y="2011680"/>
            <a:ext cx="35661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219456" rIns="219456" tIns="131674" bIns="131674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45309"/>
                </a:solidFill>
                <a:latin typeface="Helvetica Neue"/>
              </a:rPr>
              <a:t>D2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0E141B"/>
                </a:solidFill>
                <a:latin typeface="Helvetica Neue"/>
              </a:rPr>
              <a:t>The caller holds the key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4D5875"/>
                </a:solidFill>
                <a:latin typeface="Helvetica Neue"/>
              </a:rPr>
              <a:t>The data key is returned in the response, optionally wrapped with the caller's public key. DPS stores no key; reveal works only with the key the caller passes back.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Helvetica Neue"/>
              </a:rPr>
              <a:t>Proved by: </a:t>
            </a:r>
            <a:r>
              <a:rPr sz="1200" b="0">
                <a:solidFill>
                  <a:srgbClr val="4D5875"/>
                </a:solidFill>
                <a:latin typeface="Helvetica Neue"/>
              </a:rPr>
              <a:t>the key card in the Playground; every evidence pack records key custody</a:t>
            </a:r>
          </a:p>
        </p:txBody>
      </p:sp>
      <p:sp>
        <p:nvSpPr>
          <p:cNvPr id="8" name="accent:D2"/>
          <p:cNvSpPr/>
          <p:nvPr/>
        </p:nvSpPr>
        <p:spPr>
          <a:xfrm>
            <a:off x="4297680" y="2011680"/>
            <a:ext cx="3566160" cy="8229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ard:P6"/>
          <p:cNvSpPr/>
          <p:nvPr/>
        </p:nvSpPr>
        <p:spPr>
          <a:xfrm>
            <a:off x="8046720" y="2011680"/>
            <a:ext cx="35661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219456" rIns="219456" tIns="131674" bIns="131674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47857"/>
                </a:solidFill>
                <a:latin typeface="Helvetica Neue"/>
              </a:rPr>
              <a:t>P6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0E141B"/>
                </a:solidFill>
                <a:latin typeface="Helvetica Neue"/>
              </a:rPr>
              <a:t>Evidence, not claims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4D5875"/>
                </a:solidFill>
                <a:latin typeface="Helvetica Neue"/>
              </a:rPr>
              <a:t>Every job seals an evidence pack: findings, methods, verification, fidelity and privacy measurements, and the hash of the configuration it ran with.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47857"/>
                </a:solidFill>
                <a:latin typeface="Helvetica Neue"/>
              </a:rPr>
              <a:t>Proved by: </a:t>
            </a:r>
            <a:r>
              <a:rPr sz="1200" b="0">
                <a:solidFill>
                  <a:srgbClr val="4D5875"/>
                </a:solidFill>
                <a:latin typeface="Helvetica Neue"/>
              </a:rPr>
              <a:t>the evidence pack and its PDF, for every job and every scan</a:t>
            </a:r>
          </a:p>
        </p:txBody>
      </p:sp>
      <p:sp>
        <p:nvSpPr>
          <p:cNvPr id="10" name="accent:P6"/>
          <p:cNvSpPr/>
          <p:nvPr/>
        </p:nvSpPr>
        <p:spPr>
          <a:xfrm>
            <a:off x="8046720" y="2011680"/>
            <a:ext cx="3566160" cy="82296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hrome:footer"/>
          <p:cNvSpPr txBox="1"/>
          <p:nvPr/>
        </p:nvSpPr>
        <p:spPr>
          <a:xfrm>
            <a:off x="548640" y="643737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Data Privacy Services · Privacy Console · rehearsal 2026-10-15 18:28 UTC · commit 37ec781</a:t>
            </a:r>
          </a:p>
        </p:txBody>
      </p:sp>
      <p:sp>
        <p:nvSpPr>
          <p:cNvPr id="12" name="chrome:page"/>
          <p:cNvSpPr txBox="1"/>
          <p:nvPr/>
        </p:nvSpPr>
        <p:spPr>
          <a:xfrm>
            <a:off x="10177272" y="643737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E141B"/>
                </a:solidFill>
                <a:latin typeface="Helvetica Neue"/>
              </a:rPr>
              <a:t>One engine, four roles, one metadata database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lede"/>
          <p:cNvSpPr txBox="1"/>
          <p:nvPr/>
        </p:nvSpPr>
        <p:spPr>
          <a:xfrm>
            <a:off x="548640" y="122529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D5875"/>
                </a:solidFill>
                <a:latin typeface="Helvetica Neue"/>
              </a:rPr>
              <a:t>One container image runs every role. The metadata database holds jobs, hashed keys, evidence and the audit log, never a customer value.</a:t>
            </a:r>
          </a:p>
        </p:txBody>
      </p:sp>
      <p:sp>
        <p:nvSpPr>
          <p:cNvPr id="5" name="node:Apps and pipelines"/>
          <p:cNvSpPr/>
          <p:nvPr/>
        </p:nvSpPr>
        <p:spPr>
          <a:xfrm>
            <a:off x="548640" y="2057400"/>
            <a:ext cx="21031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09728" rIns="109728" tIns="65837" bIns="65837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E141B"/>
                </a:solidFill>
                <a:latin typeface="Helvetica Neue"/>
              </a:rPr>
              <a:t>Apps and pipelines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JSON, text, documents</a:t>
            </a:r>
          </a:p>
        </p:txBody>
      </p:sp>
      <p:sp>
        <p:nvSpPr>
          <p:cNvPr id="6" name="node:Data owners"/>
          <p:cNvSpPr/>
          <p:nvPr/>
        </p:nvSpPr>
        <p:spPr>
          <a:xfrm>
            <a:off x="548640" y="3200400"/>
            <a:ext cx="21031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09728" rIns="109728" tIns="65837" bIns="65837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E141B"/>
                </a:solidFill>
                <a:latin typeface="Helvetica Neue"/>
              </a:rPr>
              <a:t>Data owners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owner, table, selection</a:t>
            </a:r>
          </a:p>
        </p:txBody>
      </p:sp>
      <p:sp>
        <p:nvSpPr>
          <p:cNvPr id="7" name="node:QA and privacy teams"/>
          <p:cNvSpPr/>
          <p:nvPr/>
        </p:nvSpPr>
        <p:spPr>
          <a:xfrm>
            <a:off x="548640" y="4343400"/>
            <a:ext cx="21031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09728" rIns="109728" tIns="65837" bIns="65837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E141B"/>
                </a:solidFill>
                <a:latin typeface="Helvetica Neue"/>
              </a:rPr>
              <a:t>QA and privacy teams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a front-end URL</a:t>
            </a:r>
          </a:p>
        </p:txBody>
      </p:sp>
      <p:sp>
        <p:nvSpPr>
          <p:cNvPr id="8" name="frame:dps"/>
          <p:cNvSpPr/>
          <p:nvPr/>
        </p:nvSpPr>
        <p:spPr>
          <a:xfrm>
            <a:off x="3063240" y="1874520"/>
            <a:ext cx="5623560" cy="443484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12700">
            <a:solidFill>
              <a:srgbClr val="0F7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92024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DATA PRIVACY SERVICES · ONE IMAGE</a:t>
            </a:r>
          </a:p>
        </p:txBody>
      </p:sp>
      <p:sp>
        <p:nvSpPr>
          <p:cNvPr id="10" name="node:app"/>
          <p:cNvSpPr/>
          <p:nvPr/>
        </p:nvSpPr>
        <p:spPr>
          <a:xfrm>
            <a:off x="3291840" y="22860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09728" rIns="109728" tIns="65837" bIns="65837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F766E"/>
                </a:solidFill>
                <a:latin typeface="Helvetica Neue"/>
              </a:rPr>
              <a:t>app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API and console; L1 needs no database</a:t>
            </a:r>
          </a:p>
        </p:txBody>
      </p:sp>
      <p:sp>
        <p:nvSpPr>
          <p:cNvPr id="11" name="node:worker"/>
          <p:cNvSpPr/>
          <p:nvPr/>
        </p:nvSpPr>
        <p:spPr>
          <a:xfrm>
            <a:off x="3291840" y="34290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09728" rIns="109728" tIns="65837" bIns="65837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F766E"/>
                </a:solidFill>
                <a:latin typeface="Helvetica Neue"/>
              </a:rPr>
              <a:t>worker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L2 jobs: partitions, checkpoints</a:t>
            </a:r>
          </a:p>
        </p:txBody>
      </p:sp>
      <p:sp>
        <p:nvSpPr>
          <p:cNvPr id="12" name="node:browser-worker"/>
          <p:cNvSpPr/>
          <p:nvPr/>
        </p:nvSpPr>
        <p:spPr>
          <a:xfrm>
            <a:off x="3291840" y="45720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09728" rIns="109728" tIns="65837" bIns="65837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F766E"/>
                </a:solidFill>
                <a:latin typeface="Helvetica Neue"/>
              </a:rPr>
              <a:t>browser-worker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L3 scans in Chromium</a:t>
            </a:r>
          </a:p>
        </p:txBody>
      </p:sp>
      <p:sp>
        <p:nvSpPr>
          <p:cNvPr id="13" name="node:Privacy Engine"/>
          <p:cNvSpPr/>
          <p:nvPr/>
        </p:nvSpPr>
        <p:spPr>
          <a:xfrm>
            <a:off x="5669280" y="2286000"/>
            <a:ext cx="27889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28016" rIns="128016" tIns="76810" bIns="76810">
            <a:no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Helvetica Neue"/>
              </a:rPr>
              <a:t>Privacy Engine</a:t>
            </a:r>
          </a:p>
        </p:txBody>
      </p:sp>
      <p:sp>
        <p:nvSpPr>
          <p:cNvPr id="14" name="stage:detect"/>
          <p:cNvSpPr/>
          <p:nvPr/>
        </p:nvSpPr>
        <p:spPr>
          <a:xfrm>
            <a:off x="5852160" y="2788920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36576" rIns="36576" tIns="21946" bIns="2194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detect</a:t>
            </a:r>
          </a:p>
        </p:txBody>
      </p:sp>
      <p:sp>
        <p:nvSpPr>
          <p:cNvPr id="15" name="stage:classify"/>
          <p:cNvSpPr/>
          <p:nvPr/>
        </p:nvSpPr>
        <p:spPr>
          <a:xfrm>
            <a:off x="7114032" y="2788920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36576" rIns="36576" tIns="21946" bIns="2194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classify</a:t>
            </a:r>
          </a:p>
        </p:txBody>
      </p:sp>
      <p:sp>
        <p:nvSpPr>
          <p:cNvPr id="16" name="stage:plan"/>
          <p:cNvSpPr/>
          <p:nvPr/>
        </p:nvSpPr>
        <p:spPr>
          <a:xfrm>
            <a:off x="5852160" y="3264408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36576" rIns="36576" tIns="21946" bIns="2194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plan</a:t>
            </a:r>
          </a:p>
        </p:txBody>
      </p:sp>
      <p:sp>
        <p:nvSpPr>
          <p:cNvPr id="17" name="stage:transform"/>
          <p:cNvSpPr/>
          <p:nvPr/>
        </p:nvSpPr>
        <p:spPr>
          <a:xfrm>
            <a:off x="7114032" y="3264408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36576" rIns="36576" tIns="21946" bIns="2194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transform</a:t>
            </a:r>
          </a:p>
        </p:txBody>
      </p:sp>
      <p:sp>
        <p:nvSpPr>
          <p:cNvPr id="18" name="stage:verify"/>
          <p:cNvSpPr/>
          <p:nvPr/>
        </p:nvSpPr>
        <p:spPr>
          <a:xfrm>
            <a:off x="5852160" y="3739896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36576" rIns="36576" tIns="21946" bIns="2194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verify</a:t>
            </a:r>
          </a:p>
        </p:txBody>
      </p:sp>
      <p:sp>
        <p:nvSpPr>
          <p:cNvPr id="19" name="stage:report"/>
          <p:cNvSpPr/>
          <p:nvPr/>
        </p:nvSpPr>
        <p:spPr>
          <a:xfrm>
            <a:off x="7114032" y="3739896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36576" rIns="36576" tIns="21946" bIns="2194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report</a:t>
            </a:r>
          </a:p>
        </p:txBody>
      </p:sp>
      <p:sp>
        <p:nvSpPr>
          <p:cNvPr id="20" name="node:migrate"/>
          <p:cNvSpPr/>
          <p:nvPr/>
        </p:nvSpPr>
        <p:spPr>
          <a:xfrm>
            <a:off x="5669280" y="4526280"/>
            <a:ext cx="27889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09728" rIns="109728" tIns="65837" bIns="65837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F766E"/>
                </a:solidFill>
                <a:latin typeface="Helvetica Neue"/>
              </a:rPr>
              <a:t>migrate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DDL as the owner role, one-shot</a:t>
            </a:r>
          </a:p>
        </p:txBody>
      </p:sp>
      <p:sp>
        <p:nvSpPr>
          <p:cNvPr id="21" name="node:Metadata PostgreSQL"/>
          <p:cNvSpPr/>
          <p:nvPr/>
        </p:nvSpPr>
        <p:spPr>
          <a:xfrm>
            <a:off x="3291840" y="5596128"/>
            <a:ext cx="51663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09728" rIns="109728" tIns="65837" bIns="65837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E141B"/>
                </a:solidFill>
                <a:latin typeface="Helvetica Neue"/>
              </a:rPr>
              <a:t>Metadata PostgreSQL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job queue, hashed keys, checkpoints, evidence, audit</a:t>
            </a:r>
          </a:p>
        </p:txBody>
      </p:sp>
      <p:sp>
        <p:nvSpPr>
          <p:cNvPr id="22" name="node:LLM gateway"/>
          <p:cNvSpPr/>
          <p:nvPr/>
        </p:nvSpPr>
        <p:spPr>
          <a:xfrm>
            <a:off x="9098280" y="1874520"/>
            <a:ext cx="2542032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09728" rIns="109728" tIns="65837" bIns="65837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BE123C"/>
                </a:solidFill>
                <a:latin typeface="Helvetica Neue"/>
              </a:rPr>
              <a:t>LLM gateway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typed placeholders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0" y="2240280"/>
            <a:ext cx="411480" cy="0"/>
          </a:xfrm>
          <a:prstGeom prst="line">
            <a:avLst/>
          </a:prstGeom>
          <a:ln w="15875">
            <a:solidFill>
              <a:srgbClr val="BE123C"/>
            </a:solidFill>
            <a:prstDash val="dash"/>
            <a:tailEnd type="triangle" w="med" len="med"/>
          </a:ln>
        </p:spPr>
      </p:cxnSp>
      <p:sp>
        <p:nvSpPr>
          <p:cNvPr id="24" name="node:OCR gateway"/>
          <p:cNvSpPr/>
          <p:nvPr/>
        </p:nvSpPr>
        <p:spPr>
          <a:xfrm>
            <a:off x="9098280" y="2761488"/>
            <a:ext cx="2542032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09728" rIns="109728" tIns="65837" bIns="65837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E141B"/>
                </a:solidFill>
                <a:latin typeface="Helvetica Neue"/>
              </a:rPr>
              <a:t>OCR gateway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scanned pages and images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86800" y="3127248"/>
            <a:ext cx="411480" cy="0"/>
          </a:xfrm>
          <a:prstGeom prst="line">
            <a:avLst/>
          </a:prstGeom>
          <a:ln w="15875">
            <a:solidFill>
              <a:srgbClr val="7E89A6"/>
            </a:solidFill>
            <a:tailEnd type="triangle" w="med" len="med"/>
          </a:ln>
        </p:spPr>
      </p:cxnSp>
      <p:sp>
        <p:nvSpPr>
          <p:cNvPr id="26" name="node:Oracle · PostgreSQL · MongoDB"/>
          <p:cNvSpPr/>
          <p:nvPr/>
        </p:nvSpPr>
        <p:spPr>
          <a:xfrm>
            <a:off x="9098280" y="3648456"/>
            <a:ext cx="2542032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09728" rIns="109728" tIns="65837" bIns="65837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E141B"/>
                </a:solidFill>
                <a:latin typeface="Helvetica Neue"/>
              </a:rPr>
              <a:t>Oracle · PostgreSQL · MongoDB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sources and masked targets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0" y="4014216"/>
            <a:ext cx="411480" cy="0"/>
          </a:xfrm>
          <a:prstGeom prst="line">
            <a:avLst/>
          </a:prstGeom>
          <a:ln w="15875">
            <a:solidFill>
              <a:srgbClr val="7E89A6"/>
            </a:solidFill>
            <a:tailEnd type="triangle" w="med" len="med"/>
          </a:ln>
        </p:spPr>
      </p:cxnSp>
      <p:sp>
        <p:nvSpPr>
          <p:cNvPr id="28" name="node:S3 or PVC exports"/>
          <p:cNvSpPr/>
          <p:nvPr/>
        </p:nvSpPr>
        <p:spPr>
          <a:xfrm>
            <a:off x="9098280" y="4535424"/>
            <a:ext cx="2542032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09728" rIns="109728" tIns="65837" bIns="65837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E141B"/>
                </a:solidFill>
                <a:latin typeface="Helvetica Neue"/>
              </a:rPr>
              <a:t>S3 or PVC exports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files write mode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0" y="4901184"/>
            <a:ext cx="411480" cy="0"/>
          </a:xfrm>
          <a:prstGeom prst="line">
            <a:avLst/>
          </a:prstGeom>
          <a:ln w="15875">
            <a:solidFill>
              <a:srgbClr val="7E89A6"/>
            </a:solidFill>
            <a:tailEnd type="triangle" w="med" len="med"/>
          </a:ln>
        </p:spPr>
      </p:cxnSp>
      <p:sp>
        <p:nvSpPr>
          <p:cNvPr id="30" name="node:Bank tokenization service"/>
          <p:cNvSpPr/>
          <p:nvPr/>
        </p:nvSpPr>
        <p:spPr>
          <a:xfrm>
            <a:off x="9098280" y="5422392"/>
            <a:ext cx="2542032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09728" rIns="109728" tIns="65837" bIns="65837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E141B"/>
                </a:solidFill>
                <a:latin typeface="Helvetica Neue"/>
              </a:rPr>
              <a:t>Bank tokenization service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external_tokenize adapter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86800" y="5788152"/>
            <a:ext cx="411480" cy="0"/>
          </a:xfrm>
          <a:prstGeom prst="line">
            <a:avLst/>
          </a:prstGeom>
          <a:ln w="15875">
            <a:solidFill>
              <a:srgbClr val="7E89A6"/>
            </a:solidFill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>
            <a:off x="2651760" y="2487168"/>
            <a:ext cx="640080" cy="237744"/>
          </a:xfrm>
          <a:prstGeom prst="line">
            <a:avLst/>
          </a:prstGeom>
          <a:ln w="15875">
            <a:solidFill>
              <a:srgbClr val="7E89A6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 flipV="1">
            <a:off x="2651760" y="2724912"/>
            <a:ext cx="640080" cy="905256"/>
          </a:xfrm>
          <a:prstGeom prst="line">
            <a:avLst/>
          </a:prstGeom>
          <a:ln w="15875">
            <a:solidFill>
              <a:srgbClr val="7E89A6"/>
            </a:solidFill>
            <a:tailEnd type="triangle" w="med" len="med"/>
          </a:ln>
        </p:spPr>
      </p:cxnSp>
      <p:cxnSp>
        <p:nvCxnSpPr>
          <p:cNvPr id="34" name="Connector 33"/>
          <p:cNvCxnSpPr/>
          <p:nvPr/>
        </p:nvCxnSpPr>
        <p:spPr>
          <a:xfrm flipV="1">
            <a:off x="2651760" y="2724912"/>
            <a:ext cx="640080" cy="2048256"/>
          </a:xfrm>
          <a:prstGeom prst="line">
            <a:avLst/>
          </a:prstGeom>
          <a:ln w="15875">
            <a:solidFill>
              <a:srgbClr val="7E89A6"/>
            </a:solidFill>
            <a:tailEnd type="triangle" w="med" len="med"/>
          </a:ln>
        </p:spPr>
      </p:cxnSp>
      <p:cxnSp>
        <p:nvCxnSpPr>
          <p:cNvPr id="35" name="Connector 34"/>
          <p:cNvCxnSpPr/>
          <p:nvPr/>
        </p:nvCxnSpPr>
        <p:spPr>
          <a:xfrm>
            <a:off x="5349240" y="2724912"/>
            <a:ext cx="320040" cy="0"/>
          </a:xfrm>
          <a:prstGeom prst="line">
            <a:avLst/>
          </a:prstGeom>
          <a:ln w="15875">
            <a:solidFill>
              <a:srgbClr val="7E89A6"/>
            </a:solidFill>
            <a:tailEnd type="triangle" w="med" len="med"/>
          </a:ln>
        </p:spPr>
      </p:cxnSp>
      <p:cxnSp>
        <p:nvCxnSpPr>
          <p:cNvPr id="36" name="Connector 35"/>
          <p:cNvCxnSpPr/>
          <p:nvPr/>
        </p:nvCxnSpPr>
        <p:spPr>
          <a:xfrm>
            <a:off x="5349240" y="3858768"/>
            <a:ext cx="320040" cy="0"/>
          </a:xfrm>
          <a:prstGeom prst="line">
            <a:avLst/>
          </a:prstGeom>
          <a:ln w="15875">
            <a:solidFill>
              <a:srgbClr val="7E89A6"/>
            </a:solidFill>
            <a:tailEnd type="triangle" w="med" len="med"/>
          </a:ln>
        </p:spPr>
      </p:cxnSp>
      <p:cxnSp>
        <p:nvCxnSpPr>
          <p:cNvPr id="37" name="Connector 36"/>
          <p:cNvCxnSpPr/>
          <p:nvPr/>
        </p:nvCxnSpPr>
        <p:spPr>
          <a:xfrm flipV="1">
            <a:off x="5349240" y="4206240"/>
            <a:ext cx="320040" cy="795528"/>
          </a:xfrm>
          <a:prstGeom prst="line">
            <a:avLst/>
          </a:prstGeom>
          <a:ln w="15875">
            <a:solidFill>
              <a:srgbClr val="7E89A6"/>
            </a:solidFill>
            <a:tailEnd type="triangle" w="med" len="med"/>
          </a:ln>
        </p:spPr>
      </p:cxnSp>
      <p:sp>
        <p:nvSpPr>
          <p:cNvPr id="38" name="chrome:footer"/>
          <p:cNvSpPr txBox="1"/>
          <p:nvPr/>
        </p:nvSpPr>
        <p:spPr>
          <a:xfrm>
            <a:off x="548640" y="643737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Data Privacy Services · Privacy Console · rehearsal 2026-10-15 18:28 UTC · commit 37ec781</a:t>
            </a:r>
          </a:p>
        </p:txBody>
      </p:sp>
      <p:sp>
        <p:nvSpPr>
          <p:cNvPr id="39" name="chrome:page"/>
          <p:cNvSpPr txBox="1"/>
          <p:nvPr/>
        </p:nvSpPr>
        <p:spPr>
          <a:xfrm>
            <a:off x="10177272" y="643737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E141B"/>
                </a:solidFill>
                <a:latin typeface="Helvetica Neue"/>
              </a:rPr>
              <a:t>The Playground: findings, tokens and the key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L1 · PLAYGROUND</a:t>
            </a:r>
          </a:p>
        </p:txBody>
      </p:sp>
      <p:sp>
        <p:nvSpPr>
          <p:cNvPr id="4" name="lede"/>
          <p:cNvSpPr txBox="1"/>
          <p:nvPr/>
        </p:nvSpPr>
        <p:spPr>
          <a:xfrm>
            <a:off x="548640" y="122529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D5875"/>
                </a:solidFill>
                <a:latin typeface="Helvetica Neue"/>
              </a:rPr>
              <a:t>Paste a KYC record: every finding names its detector and score; obfuscation keeps formats; the key goes back to the caller.</a:t>
            </a:r>
          </a:p>
        </p:txBody>
      </p:sp>
      <p:pic>
        <p:nvPicPr>
          <p:cNvPr id="5" name="picture:screen-playground" descr="playground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675120" cy="4171950"/>
          </a:xfrm>
          <a:prstGeom prst="rect">
            <a:avLst/>
          </a:prstGeom>
          <a:ln w="9525">
            <a:solidFill>
              <a:srgbClr val="E0E5F0"/>
            </a:solidFill>
          </a:ln>
        </p:spPr>
      </p:pic>
      <p:sp>
        <p:nvSpPr>
          <p:cNvPr id="6" name="kpi:findings"/>
          <p:cNvSpPr/>
          <p:nvPr/>
        </p:nvSpPr>
        <p:spPr>
          <a:xfrm>
            <a:off x="7498080" y="1920240"/>
            <a:ext cx="414223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46304" rIns="146304" tIns="87782" bIns="87782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5875"/>
                </a:solidFill>
                <a:latin typeface="Helvetica Neue"/>
              </a:rPr>
              <a:t>Findings in the sample KYC record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B45309"/>
                </a:solidFill>
                <a:latin typeface="Helvetica Neue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0" y="3291840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D5875"/>
                </a:solidFill>
                <a:latin typeface="Helvetica Neue"/>
              </a:rPr>
              <a:t>Entity types found</a:t>
            </a:r>
          </a:p>
        </p:txBody>
      </p:sp>
      <p:sp>
        <p:nvSpPr>
          <p:cNvPr id="8" name="chip:AADHAAR"/>
          <p:cNvSpPr/>
          <p:nvPr/>
        </p:nvSpPr>
        <p:spPr>
          <a:xfrm>
            <a:off x="7498080" y="361188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AADHAAR</a:t>
            </a:r>
          </a:p>
        </p:txBody>
      </p:sp>
      <p:sp>
        <p:nvSpPr>
          <p:cNvPr id="9" name="chip:CARD_EXPIRY"/>
          <p:cNvSpPr/>
          <p:nvPr/>
        </p:nvSpPr>
        <p:spPr>
          <a:xfrm>
            <a:off x="8522208" y="361188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CARD_EXPIRY</a:t>
            </a:r>
          </a:p>
        </p:txBody>
      </p:sp>
      <p:sp>
        <p:nvSpPr>
          <p:cNvPr id="10" name="chip:CARD_PAN"/>
          <p:cNvSpPr/>
          <p:nvPr/>
        </p:nvSpPr>
        <p:spPr>
          <a:xfrm>
            <a:off x="9912096" y="3611880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CARD_PAN</a:t>
            </a:r>
          </a:p>
        </p:txBody>
      </p:sp>
      <p:sp>
        <p:nvSpPr>
          <p:cNvPr id="11" name="chip:CUSTOMER_ID"/>
          <p:cNvSpPr/>
          <p:nvPr/>
        </p:nvSpPr>
        <p:spPr>
          <a:xfrm>
            <a:off x="7498080" y="3995928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CUSTOMER_ID</a:t>
            </a:r>
          </a:p>
        </p:txBody>
      </p:sp>
      <p:sp>
        <p:nvSpPr>
          <p:cNvPr id="12" name="chip:DATE"/>
          <p:cNvSpPr/>
          <p:nvPr/>
        </p:nvSpPr>
        <p:spPr>
          <a:xfrm>
            <a:off x="8887968" y="3995928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DATE</a:t>
            </a:r>
          </a:p>
        </p:txBody>
      </p:sp>
      <p:sp>
        <p:nvSpPr>
          <p:cNvPr id="13" name="chip:DATE_OF_BIRTH"/>
          <p:cNvSpPr/>
          <p:nvPr/>
        </p:nvSpPr>
        <p:spPr>
          <a:xfrm>
            <a:off x="9637776" y="3995928"/>
            <a:ext cx="1499616" cy="310896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DATE_OF_BIRTH</a:t>
            </a:r>
          </a:p>
        </p:txBody>
      </p:sp>
      <p:sp>
        <p:nvSpPr>
          <p:cNvPr id="14" name="chip:EMAIL"/>
          <p:cNvSpPr/>
          <p:nvPr/>
        </p:nvSpPr>
        <p:spPr>
          <a:xfrm>
            <a:off x="7498080" y="4379976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EMAIL</a:t>
            </a:r>
          </a:p>
        </p:txBody>
      </p:sp>
      <p:sp>
        <p:nvSpPr>
          <p:cNvPr id="15" name="chip:PAN_IN"/>
          <p:cNvSpPr/>
          <p:nvPr/>
        </p:nvSpPr>
        <p:spPr>
          <a:xfrm>
            <a:off x="8339328" y="4379976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PAN_IN</a:t>
            </a:r>
          </a:p>
        </p:txBody>
      </p:sp>
      <p:sp>
        <p:nvSpPr>
          <p:cNvPr id="16" name="chip:PERSON_NAME"/>
          <p:cNvSpPr/>
          <p:nvPr/>
        </p:nvSpPr>
        <p:spPr>
          <a:xfrm>
            <a:off x="9272016" y="437997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PERSON_NAME</a:t>
            </a:r>
          </a:p>
        </p:txBody>
      </p:sp>
      <p:sp>
        <p:nvSpPr>
          <p:cNvPr id="17" name="chip:PHONE"/>
          <p:cNvSpPr/>
          <p:nvPr/>
        </p:nvSpPr>
        <p:spPr>
          <a:xfrm>
            <a:off x="10661904" y="4379976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PHONE</a:t>
            </a:r>
          </a:p>
        </p:txBody>
      </p:sp>
      <p:sp>
        <p:nvSpPr>
          <p:cNvPr id="18" name="chip:STREET_ADDRESS"/>
          <p:cNvSpPr/>
          <p:nvPr/>
        </p:nvSpPr>
        <p:spPr>
          <a:xfrm>
            <a:off x="7498080" y="4764024"/>
            <a:ext cx="1591056" cy="310896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STREET_ADDRESS</a:t>
            </a:r>
          </a:p>
        </p:txBody>
      </p:sp>
      <p:sp>
        <p:nvSpPr>
          <p:cNvPr id="19" name="Oval 18"/>
          <p:cNvSpPr/>
          <p:nvPr/>
        </p:nvSpPr>
        <p:spPr>
          <a:xfrm>
            <a:off x="7498080" y="5458968"/>
            <a:ext cx="146304" cy="146304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4" y="5394960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Reveal with the caller's key: identical input</a:t>
            </a:r>
          </a:p>
        </p:txBody>
      </p:sp>
      <p:sp>
        <p:nvSpPr>
          <p:cNvPr id="21" name="Oval 20"/>
          <p:cNvSpPr/>
          <p:nvPr/>
        </p:nvSpPr>
        <p:spPr>
          <a:xfrm>
            <a:off x="7498080" y="5916168"/>
            <a:ext cx="146304" cy="146304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4" y="5852160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E141B"/>
                </a:solidFill>
                <a:latin typeface="Helvetica Neue"/>
              </a:rPr>
              <a:t>Raw values sent to an LLM: 0</a:t>
            </a:r>
          </a:p>
        </p:txBody>
      </p:sp>
      <p:sp>
        <p:nvSpPr>
          <p:cNvPr id="23" name="chrome:footer"/>
          <p:cNvSpPr txBox="1"/>
          <p:nvPr/>
        </p:nvSpPr>
        <p:spPr>
          <a:xfrm>
            <a:off x="548640" y="643737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Data Privacy Services · Privacy Console · rehearsal 2026-10-15 18:28 UTC · commit 37ec781</a:t>
            </a:r>
          </a:p>
        </p:txBody>
      </p:sp>
      <p:sp>
        <p:nvSpPr>
          <p:cNvPr id="24" name="chrome:page"/>
          <p:cNvSpPr txBox="1"/>
          <p:nvPr/>
        </p:nvSpPr>
        <p:spPr>
          <a:xfrm>
            <a:off x="10177272" y="643737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E141B"/>
                </a:solidFill>
                <a:latin typeface="Helvetica Neue"/>
              </a:rPr>
              <a:t>Documents: true redaction, not a box over text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L1 · DOCUMENTS</a:t>
            </a:r>
          </a:p>
        </p:txBody>
      </p:sp>
      <p:sp>
        <p:nvSpPr>
          <p:cNvPr id="4" name="lede"/>
          <p:cNvSpPr txBox="1"/>
          <p:nvPr/>
        </p:nvSpPr>
        <p:spPr>
          <a:xfrm>
            <a:off x="548640" y="122529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D5875"/>
                </a:solidFill>
                <a:latin typeface="Helvetica Neue"/>
              </a:rPr>
              <a:t>Pages are rebuilt from images with the findings burned out, so no text layer survives; an OCR re-read of every page checks that no original is still readable.</a:t>
            </a:r>
          </a:p>
        </p:txBody>
      </p:sp>
      <p:sp>
        <p:nvSpPr>
          <p:cNvPr id="5" name="flow:Scanned KYC page"/>
          <p:cNvSpPr/>
          <p:nvPr/>
        </p:nvSpPr>
        <p:spPr>
          <a:xfrm>
            <a:off x="548640" y="205740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46304" rIns="146304" tIns="87782" bIns="8778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141B"/>
                </a:solidFill>
                <a:latin typeface="Helvetica Neue"/>
              </a:rPr>
              <a:t>Scanned KYC page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35808" y="2487168"/>
            <a:ext cx="374904" cy="0"/>
          </a:xfrm>
          <a:prstGeom prst="line">
            <a:avLst/>
          </a:prstGeom>
          <a:ln w="15875">
            <a:solidFill>
              <a:srgbClr val="7E89A6"/>
            </a:solidFill>
            <a:tailEnd type="triangle" w="med" len="med"/>
          </a:ln>
        </p:spPr>
      </p:cxnSp>
      <p:sp>
        <p:nvSpPr>
          <p:cNvPr id="7" name="flow:OCR reads the page"/>
          <p:cNvSpPr/>
          <p:nvPr/>
        </p:nvSpPr>
        <p:spPr>
          <a:xfrm>
            <a:off x="3429000" y="205740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46304" rIns="146304" tIns="87782" bIns="8778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141B"/>
                </a:solidFill>
                <a:latin typeface="Helvetica Neue"/>
              </a:rPr>
              <a:t>OCR reads the page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16168" y="2487168"/>
            <a:ext cx="374904" cy="0"/>
          </a:xfrm>
          <a:prstGeom prst="line">
            <a:avLst/>
          </a:prstGeom>
          <a:ln w="15875">
            <a:solidFill>
              <a:srgbClr val="7E89A6"/>
            </a:solidFill>
            <a:tailEnd type="triangle" w="med" len="med"/>
          </a:ln>
        </p:spPr>
      </p:cxnSp>
      <p:sp>
        <p:nvSpPr>
          <p:cNvPr id="9" name="flow:Findings per page"/>
          <p:cNvSpPr/>
          <p:nvPr/>
        </p:nvSpPr>
        <p:spPr>
          <a:xfrm>
            <a:off x="6309360" y="205740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46304" rIns="146304" tIns="87782" bIns="8778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141B"/>
                </a:solidFill>
                <a:latin typeface="Helvetica Neue"/>
              </a:rPr>
              <a:t>Findings per page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96528" y="2487168"/>
            <a:ext cx="374904" cy="0"/>
          </a:xfrm>
          <a:prstGeom prst="line">
            <a:avLst/>
          </a:prstGeom>
          <a:ln w="15875">
            <a:solidFill>
              <a:srgbClr val="7E89A6"/>
            </a:solidFill>
            <a:tailEnd type="triangle" w="med" len="med"/>
          </a:ln>
        </p:spPr>
      </p:cxnSp>
      <p:sp>
        <p:nvSpPr>
          <p:cNvPr id="11" name="flow:Redacted PDF"/>
          <p:cNvSpPr/>
          <p:nvPr/>
        </p:nvSpPr>
        <p:spPr>
          <a:xfrm>
            <a:off x="9189720" y="205740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146304" rIns="146304" tIns="87782" bIns="8778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Helvetica Neue"/>
              </a:rPr>
              <a:t>Redacted PDF</a:t>
            </a:r>
          </a:p>
        </p:txBody>
      </p:sp>
      <p:sp>
        <p:nvSpPr>
          <p:cNvPr id="12" name="kpi:ocr-pages"/>
          <p:cNvSpPr/>
          <p:nvPr/>
        </p:nvSpPr>
        <p:spPr>
          <a:xfrm>
            <a:off x="548640" y="32918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46304" rIns="146304" tIns="87782" bIns="87782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5875"/>
                </a:solidFill>
                <a:latin typeface="Helvetica Neue"/>
              </a:rPr>
              <a:t>OCR pages read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0F766E"/>
                </a:solidFill>
                <a:latin typeface="Helvetica Neue"/>
              </a:rPr>
              <a:t>2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7E89A6"/>
                </a:solidFill>
                <a:latin typeface="Helvetica Neue"/>
              </a:rPr>
              <a:t>pages the OCR contract read</a:t>
            </a:r>
          </a:p>
        </p:txBody>
      </p:sp>
      <p:sp>
        <p:nvSpPr>
          <p:cNvPr id="13" name="kpi:doc-findings"/>
          <p:cNvSpPr/>
          <p:nvPr/>
        </p:nvSpPr>
        <p:spPr>
          <a:xfrm>
            <a:off x="3346704" y="32918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46304" rIns="146304" tIns="87782" bIns="87782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5875"/>
                </a:solidFill>
                <a:latin typeface="Helvetica Neue"/>
              </a:rPr>
              <a:t>Findings redacted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B45309"/>
                </a:solidFill>
                <a:latin typeface="Helvetica Neue"/>
              </a:rPr>
              <a:t>14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7E89A6"/>
                </a:solidFill>
                <a:latin typeface="Helvetica Neue"/>
              </a:rPr>
              <a:t>sensitive values found on the pages</a:t>
            </a:r>
          </a:p>
        </p:txBody>
      </p:sp>
      <p:sp>
        <p:nvSpPr>
          <p:cNvPr id="14" name="kpi:extractable"/>
          <p:cNvSpPr/>
          <p:nvPr/>
        </p:nvSpPr>
        <p:spPr>
          <a:xfrm>
            <a:off x="6144768" y="32918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46304" rIns="146304" tIns="87782" bIns="87782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5875"/>
                </a:solidFill>
                <a:latin typeface="Helvetica Neue"/>
              </a:rPr>
              <a:t>Characters left to extract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047857"/>
                </a:solidFill>
                <a:latin typeface="Helvetica Neue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7E89A6"/>
                </a:solidFill>
                <a:latin typeface="Helvetica Neue"/>
              </a:rPr>
              <a:t>a text extractor on the redacted PDF</a:t>
            </a:r>
          </a:p>
        </p:txBody>
      </p:sp>
      <p:sp>
        <p:nvSpPr>
          <p:cNvPr id="15" name="kpi:originals"/>
          <p:cNvSpPr/>
          <p:nvPr/>
        </p:nvSpPr>
        <p:spPr>
          <a:xfrm>
            <a:off x="8942832" y="32918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46304" rIns="146304" tIns="87782" bIns="87782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5875"/>
                </a:solidFill>
                <a:latin typeface="Helvetica Neue"/>
              </a:rPr>
              <a:t>Originals still readable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047857"/>
                </a:solidFill>
                <a:latin typeface="Helvetica Neue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7E89A6"/>
                </a:solidFill>
                <a:latin typeface="Helvetica Neue"/>
              </a:rPr>
              <a:t>an OCR re-read of the redacted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E89A6"/>
                </a:solidFill>
                <a:latin typeface="Helvetica Neue"/>
              </a:rPr>
              <a:t>The obfuscated text and the findings come back with the key, so the caller can still reveal the text output; the redacted PDF is irreversible by design.</a:t>
            </a:r>
          </a:p>
        </p:txBody>
      </p:sp>
      <p:sp>
        <p:nvSpPr>
          <p:cNvPr id="17" name="chrome:footer"/>
          <p:cNvSpPr txBox="1"/>
          <p:nvPr/>
        </p:nvSpPr>
        <p:spPr>
          <a:xfrm>
            <a:off x="548640" y="643737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Data Privacy Services · Privacy Console · rehearsal 2026-10-15 18:28 UTC · commit 37ec781</a:t>
            </a:r>
          </a:p>
        </p:txBody>
      </p:sp>
      <p:sp>
        <p:nvSpPr>
          <p:cNvPr id="18" name="chrome:page"/>
          <p:cNvSpPr txBox="1"/>
          <p:nvPr/>
        </p:nvSpPr>
        <p:spPr>
          <a:xfrm>
            <a:off x="10177272" y="643737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E141B"/>
                </a:solidFill>
                <a:latin typeface="Helvetica Neue"/>
              </a:rPr>
              <a:t>Databases: masked copies at scale, with evidence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L2 · CONNECTORS</a:t>
            </a:r>
          </a:p>
        </p:txBody>
      </p:sp>
      <p:sp>
        <p:nvSpPr>
          <p:cNvPr id="4" name="lede"/>
          <p:cNvSpPr txBox="1"/>
          <p:nvPr/>
        </p:nvSpPr>
        <p:spPr>
          <a:xfrm>
            <a:off x="548640" y="122529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D5875"/>
                </a:solidFill>
                <a:latin typeface="Helvetica Neue"/>
              </a:rPr>
              <a:t>Discover, review the heat-map, run: partitions with checkpoints, a verification sweep and a sealed evidence pack for every job.</a:t>
            </a:r>
          </a:p>
        </p:txBody>
      </p:sp>
      <p:pic>
        <p:nvPicPr>
          <p:cNvPr id="5" name="picture:screen-job" descr="job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486400" cy="3429000"/>
          </a:xfrm>
          <a:prstGeom prst="rect">
            <a:avLst/>
          </a:prstGeom>
          <a:ln w="9525">
            <a:solidFill>
              <a:srgbClr val="E0E5F0"/>
            </a:solidFill>
          </a:ln>
        </p:spPr>
      </p:pic>
      <p:sp>
        <p:nvSpPr>
          <p:cNvPr id="6" name="job:postgres"/>
          <p:cNvSpPr/>
          <p:nvPr/>
        </p:nvSpPr>
        <p:spPr>
          <a:xfrm>
            <a:off x="548640" y="5486400"/>
            <a:ext cx="18897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047857"/>
                </a:solidFill>
                <a:latin typeface="Helvetica Neue"/>
              </a:rPr>
              <a:t>PostgreSQL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20,000 rows · 4 partitions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930.9 rows/s · verified</a:t>
            </a:r>
          </a:p>
        </p:txBody>
      </p:sp>
      <p:sp>
        <p:nvSpPr>
          <p:cNvPr id="7" name="job:mongo"/>
          <p:cNvSpPr/>
          <p:nvPr/>
        </p:nvSpPr>
        <p:spPr>
          <a:xfrm>
            <a:off x="2529840" y="5486400"/>
            <a:ext cx="18897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047857"/>
                </a:solidFill>
                <a:latin typeface="Helvetica Neue"/>
              </a:rPr>
              <a:t>MongoDB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20,000 rows · 4 partitions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353.8 rows/s · verified</a:t>
            </a:r>
          </a:p>
        </p:txBody>
      </p:sp>
      <p:sp>
        <p:nvSpPr>
          <p:cNvPr id="8" name="job:oracle"/>
          <p:cNvSpPr/>
          <p:nvPr/>
        </p:nvSpPr>
        <p:spPr>
          <a:xfrm>
            <a:off x="4511040" y="5486400"/>
            <a:ext cx="18897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047857"/>
                </a:solidFill>
                <a:latin typeface="Helvetica Neue"/>
              </a:rPr>
              <a:t>Oracle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20,000 rows · 4 partitions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246.3 rows/s · 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920240"/>
            <a:ext cx="49194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141B"/>
                </a:solidFill>
                <a:latin typeface="Helvetica Neue"/>
              </a:rPr>
              <a:t>Measured throughput, rows per second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94560"/>
            <a:ext cx="49194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E89A6"/>
                </a:solidFill>
                <a:latin typeface="Helvetica Neue"/>
              </a:rPr>
              <a:t>tools/bench_connector.py on one host with 18 CPUs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578608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D5875"/>
                </a:solidFill>
                <a:latin typeface="Helvetica Neue"/>
              </a:rPr>
              <a:t>PostgreSQL obfuscate into files · 1 worker · parallelism 4</a:t>
            </a:r>
          </a:p>
        </p:txBody>
      </p:sp>
      <p:sp>
        <p:nvSpPr>
          <p:cNvPr id="12" name="bar:PostgreSQL obfuscate into files · 1 worker · parallelism 4"/>
          <p:cNvSpPr/>
          <p:nvPr/>
        </p:nvSpPr>
        <p:spPr>
          <a:xfrm>
            <a:off x="6720840" y="2807208"/>
            <a:ext cx="2139495" cy="1554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3487" y="2752344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E141B"/>
                </a:solidFill>
                <a:latin typeface="Helvetica Neue"/>
              </a:rPr>
              <a:t>2,911.7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35808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D5875"/>
                </a:solidFill>
                <a:latin typeface="Helvetica Neue"/>
              </a:rPr>
              <a:t>PostgreSQL obfuscate into in place · 1 worker · parallelism 4</a:t>
            </a:r>
          </a:p>
        </p:txBody>
      </p:sp>
      <p:sp>
        <p:nvSpPr>
          <p:cNvPr id="15" name="bar:PostgreSQL obfuscate into in place · 1 worker · parallelism 4"/>
          <p:cNvSpPr/>
          <p:nvPr/>
        </p:nvSpPr>
        <p:spPr>
          <a:xfrm>
            <a:off x="6720840" y="3264408"/>
            <a:ext cx="2348176" cy="1554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2168" y="3209544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E141B"/>
                </a:solidFill>
                <a:latin typeface="Helvetica Neue"/>
              </a:rPr>
              <a:t>3,195.7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493008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D5875"/>
                </a:solidFill>
                <a:latin typeface="Helvetica Neue"/>
              </a:rPr>
              <a:t>PostgreSQL obfuscate into table · 1 worker · parallelism 4</a:t>
            </a:r>
          </a:p>
        </p:txBody>
      </p:sp>
      <p:sp>
        <p:nvSpPr>
          <p:cNvPr id="18" name="bar:PostgreSQL obfuscate into table · 1 worker · parallelism 4"/>
          <p:cNvSpPr/>
          <p:nvPr/>
        </p:nvSpPr>
        <p:spPr>
          <a:xfrm>
            <a:off x="6720840" y="3721608"/>
            <a:ext cx="1817877" cy="1554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1869" y="3666744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E141B"/>
                </a:solidFill>
                <a:latin typeface="Helvetica Neue"/>
              </a:rPr>
              <a:t>2,474.0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950208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D5875"/>
                </a:solidFill>
                <a:latin typeface="Helvetica Neue"/>
              </a:rPr>
              <a:t>PostgreSQL obfuscate into table · 3 workers · parallelism 4</a:t>
            </a:r>
          </a:p>
        </p:txBody>
      </p:sp>
      <p:sp>
        <p:nvSpPr>
          <p:cNvPr id="21" name="bar:PostgreSQL obfuscate into table · 3 workers · parallelism 4"/>
          <p:cNvSpPr/>
          <p:nvPr/>
        </p:nvSpPr>
        <p:spPr>
          <a:xfrm>
            <a:off x="6720840" y="4178808"/>
            <a:ext cx="3032929" cy="1554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6921" y="4123944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E141B"/>
                </a:solidFill>
                <a:latin typeface="Helvetica Neue"/>
              </a:rPr>
              <a:t>4,127.6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407408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D5875"/>
                </a:solidFill>
                <a:latin typeface="Helvetica Neue"/>
              </a:rPr>
              <a:t>PostgreSQL obfuscate into table · 3 workers · parallelism 12</a:t>
            </a:r>
          </a:p>
        </p:txBody>
      </p:sp>
      <p:sp>
        <p:nvSpPr>
          <p:cNvPr id="24" name="bar:PostgreSQL obfuscate into table · 3 workers · parallelism 12"/>
          <p:cNvSpPr/>
          <p:nvPr/>
        </p:nvSpPr>
        <p:spPr>
          <a:xfrm>
            <a:off x="6720840" y="4636008"/>
            <a:ext cx="3547872" cy="1554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41864" y="4581144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E141B"/>
                </a:solidFill>
                <a:latin typeface="Helvetica Neue"/>
              </a:rPr>
              <a:t>4,828.4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864608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D5875"/>
                </a:solidFill>
                <a:latin typeface="Helvetica Neue"/>
              </a:rPr>
              <a:t>PostgreSQL synthesize into table · 1 worker · parallelism 4</a:t>
            </a:r>
          </a:p>
        </p:txBody>
      </p:sp>
      <p:sp>
        <p:nvSpPr>
          <p:cNvPr id="27" name="bar:PostgreSQL synthesize into table · 1 worker · parallelism 4"/>
          <p:cNvSpPr/>
          <p:nvPr/>
        </p:nvSpPr>
        <p:spPr>
          <a:xfrm>
            <a:off x="6720840" y="5093208"/>
            <a:ext cx="1485089" cy="1554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9081" y="5038344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E141B"/>
                </a:solidFill>
                <a:latin typeface="Helvetica Neue"/>
              </a:rPr>
              <a:t>2,021.1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321808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D5875"/>
                </a:solidFill>
                <a:latin typeface="Helvetica Neue"/>
              </a:rPr>
              <a:t>Oracle obfuscate into table · 1 worker · parallelism 4</a:t>
            </a:r>
          </a:p>
        </p:txBody>
      </p:sp>
      <p:sp>
        <p:nvSpPr>
          <p:cNvPr id="30" name="bar:Oracle obfuscate into table · 1 worker · parallelism 4"/>
          <p:cNvSpPr/>
          <p:nvPr/>
        </p:nvSpPr>
        <p:spPr>
          <a:xfrm>
            <a:off x="6720840" y="5550408"/>
            <a:ext cx="691881" cy="1554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85873" y="5495544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E141B"/>
                </a:solidFill>
                <a:latin typeface="Helvetica Neue"/>
              </a:rPr>
              <a:t>941.6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779008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D5875"/>
                </a:solidFill>
                <a:latin typeface="Helvetica Neue"/>
              </a:rPr>
              <a:t>MongoDB obfuscate into table · 1 worker · parallelism 4</a:t>
            </a:r>
          </a:p>
        </p:txBody>
      </p:sp>
      <p:sp>
        <p:nvSpPr>
          <p:cNvPr id="33" name="bar:MongoDB obfuscate into table · 1 worker · parallelism 4"/>
          <p:cNvSpPr/>
          <p:nvPr/>
        </p:nvSpPr>
        <p:spPr>
          <a:xfrm>
            <a:off x="6720840" y="6007608"/>
            <a:ext cx="632142" cy="1554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26134" y="5952744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E141B"/>
                </a:solidFill>
                <a:latin typeface="Helvetica Neue"/>
              </a:rPr>
              <a:t>860.3</a:t>
            </a:r>
          </a:p>
        </p:txBody>
      </p:sp>
      <p:sp>
        <p:nvSpPr>
          <p:cNvPr id="35" name="chrome:footer"/>
          <p:cNvSpPr txBox="1"/>
          <p:nvPr/>
        </p:nvSpPr>
        <p:spPr>
          <a:xfrm>
            <a:off x="548640" y="643737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Data Privacy Services · Privacy Console · rehearsal 2026-10-15 18:28 UTC · commit 37ec781</a:t>
            </a:r>
          </a:p>
        </p:txBody>
      </p:sp>
      <p:sp>
        <p:nvSpPr>
          <p:cNvPr id="36" name="chrome:page"/>
          <p:cNvSpPr txBox="1"/>
          <p:nvPr/>
        </p:nvSpPr>
        <p:spPr>
          <a:xfrm>
            <a:off x="10177272" y="643737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E141B"/>
                </a:solidFill>
                <a:latin typeface="Helvetica Neue"/>
              </a:rPr>
              <a:t>One key, three systems, the same tokens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L2 · JOB GROUPS</a:t>
            </a:r>
          </a:p>
        </p:txBody>
      </p:sp>
      <p:sp>
        <p:nvSpPr>
          <p:cNvPr id="4" name="lede"/>
          <p:cNvSpPr txBox="1"/>
          <p:nvPr/>
        </p:nvSpPr>
        <p:spPr>
          <a:xfrm>
            <a:off x="548640" y="122529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D5875"/>
                </a:solidFill>
                <a:latin typeface="Helvetica Neue"/>
              </a:rPr>
              <a:t>A job group shares one key across Oracle, MongoDB and PostgreSQL: the same customer id becomes the same token everywhere, so joins still work, with no lookup table.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2194560" y="2788920"/>
            <a:ext cx="1645920" cy="2148840"/>
          </a:xfrm>
          <a:prstGeom prst="line">
            <a:avLst/>
          </a:prstGeom>
          <a:ln w="25400">
            <a:solidFill>
              <a:srgbClr val="0F766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846320" y="2788920"/>
            <a:ext cx="1645920" cy="2148840"/>
          </a:xfrm>
          <a:prstGeom prst="line">
            <a:avLst/>
          </a:prstGeom>
          <a:ln w="25400">
            <a:solidFill>
              <a:srgbClr val="0F766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017520" y="5349240"/>
            <a:ext cx="2651760" cy="0"/>
          </a:xfrm>
          <a:prstGeom prst="line">
            <a:avLst/>
          </a:prstGeom>
          <a:ln w="25400">
            <a:solidFill>
              <a:srgbClr val="0F766E"/>
            </a:solidFill>
          </a:ln>
        </p:spPr>
      </p:cxnSp>
      <p:sp>
        <p:nvSpPr>
          <p:cNvPr id="8" name="system:postgres"/>
          <p:cNvSpPr/>
          <p:nvPr/>
        </p:nvSpPr>
        <p:spPr>
          <a:xfrm>
            <a:off x="3154680" y="1965960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12700">
            <a:solidFill>
              <a:srgbClr val="0F766E"/>
            </a:solidFill>
          </a:ln>
        </p:spPr>
        <p:txBody>
          <a:bodyPr rtlCol="0" anchor="ctr" wrap="square" lIns="146304" rIns="146304" tIns="87782" bIns="87782">
            <a:no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0F766E"/>
                </a:solidFill>
                <a:latin typeface="Helvetica Neue"/>
              </a:rPr>
              <a:t>PostgreSQL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4D5875"/>
                </a:solidFill>
                <a:latin typeface="Helvetica Neue"/>
              </a:rPr>
              <a:t>bank customers</a:t>
            </a:r>
          </a:p>
        </p:txBody>
      </p:sp>
      <p:sp>
        <p:nvSpPr>
          <p:cNvPr id="9" name="system:oracle"/>
          <p:cNvSpPr/>
          <p:nvPr/>
        </p:nvSpPr>
        <p:spPr>
          <a:xfrm>
            <a:off x="640080" y="4937760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12700">
            <a:solidFill>
              <a:srgbClr val="0F766E"/>
            </a:solidFill>
          </a:ln>
        </p:spPr>
        <p:txBody>
          <a:bodyPr rtlCol="0" anchor="ctr" wrap="square" lIns="146304" rIns="146304" tIns="87782" bIns="87782">
            <a:no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0F766E"/>
                </a:solidFill>
                <a:latin typeface="Helvetica Neue"/>
              </a:rPr>
              <a:t>Oracle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4D5875"/>
                </a:solidFill>
                <a:latin typeface="Helvetica Neue"/>
              </a:rPr>
              <a:t>CRM customers</a:t>
            </a:r>
          </a:p>
        </p:txBody>
      </p:sp>
      <p:sp>
        <p:nvSpPr>
          <p:cNvPr id="10" name="system:mongo"/>
          <p:cNvSpPr/>
          <p:nvPr/>
        </p:nvSpPr>
        <p:spPr>
          <a:xfrm>
            <a:off x="5669280" y="4937760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12700">
            <a:solidFill>
              <a:srgbClr val="0F766E"/>
            </a:solidFill>
          </a:ln>
        </p:spPr>
        <p:txBody>
          <a:bodyPr rtlCol="0" anchor="ctr" wrap="square" lIns="146304" rIns="146304" tIns="87782" bIns="87782">
            <a:no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0F766E"/>
                </a:solidFill>
                <a:latin typeface="Helvetica Neue"/>
              </a:rPr>
              <a:t>MongoDB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4D5875"/>
                </a:solidFill>
                <a:latin typeface="Helvetica Neue"/>
              </a:rPr>
              <a:t>customer profiles</a:t>
            </a:r>
          </a:p>
        </p:txBody>
      </p:sp>
      <p:sp>
        <p:nvSpPr>
          <p:cNvPr id="11" name="pair:mongo-oracle"/>
          <p:cNvSpPr/>
          <p:nvPr/>
        </p:nvSpPr>
        <p:spPr>
          <a:xfrm>
            <a:off x="3429000" y="5102352"/>
            <a:ext cx="1828800" cy="493776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9525">
            <a:solidFill>
              <a:srgbClr val="047857"/>
            </a:solidFill>
          </a:ln>
        </p:spPr>
        <p:txBody>
          <a:bodyPr rtlCol="0" anchor="ctr" wrap="square" lIns="36576" rIns="36576" tIns="21946" bIns="2194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47857"/>
                </a:solidFill>
                <a:latin typeface="Helvetica Neue"/>
              </a:rPr>
              <a:t>500 of 500 matched</a:t>
            </a:r>
          </a:p>
        </p:txBody>
      </p:sp>
      <p:sp>
        <p:nvSpPr>
          <p:cNvPr id="12" name="pair:oracle-postgres"/>
          <p:cNvSpPr/>
          <p:nvPr/>
        </p:nvSpPr>
        <p:spPr>
          <a:xfrm>
            <a:off x="2103120" y="3616452"/>
            <a:ext cx="1828800" cy="493776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9525">
            <a:solidFill>
              <a:srgbClr val="047857"/>
            </a:solidFill>
          </a:ln>
        </p:spPr>
        <p:txBody>
          <a:bodyPr rtlCol="0" anchor="ctr" wrap="square" lIns="36576" rIns="36576" tIns="21946" bIns="2194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47857"/>
                </a:solidFill>
                <a:latin typeface="Helvetica Neue"/>
              </a:rPr>
              <a:t>500 of 500 matched</a:t>
            </a:r>
          </a:p>
        </p:txBody>
      </p:sp>
      <p:sp>
        <p:nvSpPr>
          <p:cNvPr id="13" name="pair:mongo-postgres"/>
          <p:cNvSpPr/>
          <p:nvPr/>
        </p:nvSpPr>
        <p:spPr>
          <a:xfrm>
            <a:off x="4754880" y="3616452"/>
            <a:ext cx="1828800" cy="493776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9525">
            <a:solidFill>
              <a:srgbClr val="047857"/>
            </a:solidFill>
          </a:ln>
        </p:spPr>
        <p:txBody>
          <a:bodyPr rtlCol="0" anchor="ctr" wrap="square" lIns="36576" rIns="36576" tIns="21946" bIns="2194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47857"/>
                </a:solidFill>
                <a:latin typeface="Helvetica Neue"/>
              </a:rPr>
              <a:t>500 of 500 matched</a:t>
            </a:r>
          </a:p>
        </p:txBody>
      </p:sp>
      <p:sp>
        <p:nvSpPr>
          <p:cNvPr id="14" name="kpi:consistency"/>
          <p:cNvSpPr/>
          <p:nvPr/>
        </p:nvSpPr>
        <p:spPr>
          <a:xfrm>
            <a:off x="8503920" y="1965960"/>
            <a:ext cx="3136392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201168" rIns="201168" tIns="120701" bIns="120701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D5875"/>
                </a:solidFill>
                <a:latin typeface="Helvetica Neue"/>
              </a:rPr>
              <a:t>Customer ids sampled</a:t>
            </a:r>
          </a:p>
          <a:p>
            <a:pPr algn="l">
              <a:spcAft>
                <a:spcPts val="1200"/>
              </a:spcAft>
            </a:pPr>
            <a:r>
              <a:rPr sz="3400" b="1">
                <a:solidFill>
                  <a:srgbClr val="0F766E"/>
                </a:solidFill>
                <a:latin typeface="Helvetica Neue"/>
              </a:rPr>
              <a:t>500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4D5875"/>
                </a:solidFill>
                <a:latin typeface="Helvetica Neue"/>
              </a:rPr>
              <a:t>Found in every system of the group</a:t>
            </a:r>
          </a:p>
          <a:p>
            <a:pPr algn="l">
              <a:spcAft>
                <a:spcPts val="1200"/>
              </a:spcAft>
            </a:pPr>
            <a:r>
              <a:rPr sz="3400" b="1">
                <a:solidFill>
                  <a:srgbClr val="047857"/>
                </a:solidFill>
                <a:latin typeface="Helvetica Neue"/>
              </a:rPr>
              <a:t>500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047857"/>
                </a:solidFill>
                <a:latin typeface="Helvetica Neue"/>
              </a:rPr>
              <a:t>Consistency check passed</a:t>
            </a:r>
          </a:p>
        </p:txBody>
      </p:sp>
      <p:sp>
        <p:nvSpPr>
          <p:cNvPr id="15" name="chrome:footer"/>
          <p:cNvSpPr txBox="1"/>
          <p:nvPr/>
        </p:nvSpPr>
        <p:spPr>
          <a:xfrm>
            <a:off x="548640" y="643737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Data Privacy Services · Privacy Console · rehearsal 2026-10-15 18:28 UTC · commit 37ec781</a:t>
            </a:r>
          </a:p>
        </p:txBody>
      </p:sp>
      <p:sp>
        <p:nvSpPr>
          <p:cNvPr id="16" name="chrome:page"/>
          <p:cNvSpPr txBox="1"/>
          <p:nvPr/>
        </p:nvSpPr>
        <p:spPr>
          <a:xfrm>
            <a:off x="10177272" y="643737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E141B"/>
                </a:solidFill>
                <a:latin typeface="Helvetica Neue"/>
              </a:rPr>
              <a:t>Synthetic data: measured, not claimed anonymous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L2 · SYNTHETIC</a:t>
            </a:r>
          </a:p>
        </p:txBody>
      </p:sp>
      <p:sp>
        <p:nvSpPr>
          <p:cNvPr id="4" name="lede"/>
          <p:cNvSpPr txBox="1"/>
          <p:nvPr/>
        </p:nvSpPr>
        <p:spPr>
          <a:xfrm>
            <a:off x="548640" y="122529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D5875"/>
                </a:solidFill>
                <a:latin typeface="Helvetica Neue"/>
              </a:rPr>
              <a:t>The copula engine is fitted, previewed and measured on the rows the job will write, before anything is written; a real row is rejected in flight.</a:t>
            </a:r>
          </a:p>
        </p:txBody>
      </p:sp>
      <p:sp>
        <p:nvSpPr>
          <p:cNvPr id="5" name="kpi:fidelity"/>
          <p:cNvSpPr/>
          <p:nvPr/>
        </p:nvSpPr>
        <p:spPr>
          <a:xfrm>
            <a:off x="548640" y="2011680"/>
            <a:ext cx="3611880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46304" rIns="146304" tIns="87782" bIns="87782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5875"/>
                </a:solidFill>
                <a:latin typeface="Helvetica Neue"/>
              </a:rPr>
              <a:t>Fidelity score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0F766E"/>
                </a:solidFill>
                <a:latin typeface="Helvetica Neue"/>
              </a:rPr>
              <a:t>0.96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7E89A6"/>
                </a:solidFill>
                <a:latin typeface="Helvetica Neue"/>
              </a:rPr>
              <a:t>shape of the real columns and their correlations</a:t>
            </a:r>
          </a:p>
        </p:txBody>
      </p:sp>
      <p:sp>
        <p:nvSpPr>
          <p:cNvPr id="6" name="gauge:track"/>
          <p:cNvSpPr/>
          <p:nvPr/>
        </p:nvSpPr>
        <p:spPr>
          <a:xfrm>
            <a:off x="694944" y="3520440"/>
            <a:ext cx="3319272" cy="91440"/>
          </a:xfrm>
          <a:prstGeom prst="rect">
            <a:avLst/>
          </a:prstGeom>
          <a:solidFill>
            <a:srgbClr val="E7F1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auge:fill"/>
          <p:cNvSpPr/>
          <p:nvPr/>
        </p:nvSpPr>
        <p:spPr>
          <a:xfrm>
            <a:off x="694944" y="3520440"/>
            <a:ext cx="3185505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kpi:exact-rows"/>
          <p:cNvSpPr/>
          <p:nvPr/>
        </p:nvSpPr>
        <p:spPr>
          <a:xfrm>
            <a:off x="4288536" y="2011680"/>
            <a:ext cx="3611880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46304" rIns="146304" tIns="87782" bIns="87782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5875"/>
                </a:solidFill>
                <a:latin typeface="Helvetica Neue"/>
              </a:rPr>
              <a:t>Exact-row matches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047857"/>
                </a:solidFill>
                <a:latin typeface="Helvetica Neue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7E89A6"/>
                </a:solidFill>
                <a:latin typeface="Helvetica Neue"/>
              </a:rPr>
              <a:t>synthetic rows identical to a real row</a:t>
            </a:r>
          </a:p>
        </p:txBody>
      </p:sp>
      <p:sp>
        <p:nvSpPr>
          <p:cNvPr id="9" name="kpi:nndr"/>
          <p:cNvSpPr/>
          <p:nvPr/>
        </p:nvSpPr>
        <p:spPr>
          <a:xfrm>
            <a:off x="8028432" y="2011680"/>
            <a:ext cx="3611880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46304" rIns="146304" tIns="87782" bIns="87782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5875"/>
                </a:solidFill>
                <a:latin typeface="Helvetica Neue"/>
              </a:rPr>
              <a:t>Nearest-neighbour distance ratio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047857"/>
                </a:solidFill>
                <a:latin typeface="Helvetica Neue"/>
              </a:rPr>
              <a:t>1.50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7E89A6"/>
                </a:solidFill>
                <a:latin typeface="Helvetica Neue"/>
              </a:rPr>
              <a:t>target at least 0.95; higher is safer</a:t>
            </a:r>
          </a:p>
        </p:txBody>
      </p:sp>
      <p:sp>
        <p:nvSpPr>
          <p:cNvPr id="10" name="kpi:mia"/>
          <p:cNvSpPr/>
          <p:nvPr/>
        </p:nvSpPr>
        <p:spPr>
          <a:xfrm>
            <a:off x="548640" y="4069080"/>
            <a:ext cx="3611880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46304" rIns="146304" tIns="87782" bIns="87782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5875"/>
                </a:solidFill>
                <a:latin typeface="Helvetica Neue"/>
              </a:rPr>
              <a:t>Membership inference (MIA) AUC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047857"/>
                </a:solidFill>
                <a:latin typeface="Helvetica Neue"/>
              </a:rPr>
              <a:t>0.50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7E89A6"/>
                </a:solidFill>
                <a:latin typeface="Helvetica Neue"/>
              </a:rPr>
              <a:t>target at most 0.60; a coin toss scores about half</a:t>
            </a:r>
          </a:p>
        </p:txBody>
      </p:sp>
      <p:sp>
        <p:nvSpPr>
          <p:cNvPr id="11" name="kpi:utility"/>
          <p:cNvSpPr/>
          <p:nvPr/>
        </p:nvSpPr>
        <p:spPr>
          <a:xfrm>
            <a:off x="4288536" y="4069080"/>
            <a:ext cx="3611880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46304" rIns="146304" tIns="87782" bIns="87782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5875"/>
                </a:solidFill>
                <a:latin typeface="Helvetica Neue"/>
              </a:rPr>
              <a:t>Utility, synthetic vs real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0F766E"/>
                </a:solidFill>
                <a:latin typeface="Helvetica Neue"/>
              </a:rPr>
              <a:t>0.97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7E89A6"/>
                </a:solidFill>
                <a:latin typeface="Helvetica Neue"/>
              </a:rPr>
              <a:t>train on synthetic, test on real (accuracy)</a:t>
            </a:r>
          </a:p>
        </p:txBody>
      </p:sp>
      <p:sp>
        <p:nvSpPr>
          <p:cNvPr id="12" name="card:method"/>
          <p:cNvSpPr/>
          <p:nvPr/>
        </p:nvSpPr>
        <p:spPr>
          <a:xfrm>
            <a:off x="8028432" y="4069080"/>
            <a:ext cx="3611880" cy="187452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t" wrap="square" lIns="164592" rIns="164592" tIns="98755" bIns="98755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E141B"/>
                </a:solidFill>
                <a:latin typeface="Helvetica Neue"/>
              </a:rPr>
              <a:t>How it was measured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D5875"/>
                </a:solidFill>
                <a:latin typeface="Helvetica Neue"/>
              </a:rPr>
              <a:t>On a deterministic preview of the rows this job writes, before writing; exact copies of real rows are rejected in flight.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Rows written: 20,000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Label: synthetic — measured, not claimed anonymous</a:t>
            </a:r>
          </a:p>
        </p:txBody>
      </p:sp>
      <p:sp>
        <p:nvSpPr>
          <p:cNvPr id="13" name="chrome:footer"/>
          <p:cNvSpPr txBox="1"/>
          <p:nvPr/>
        </p:nvSpPr>
        <p:spPr>
          <a:xfrm>
            <a:off x="548640" y="643737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Data Privacy Services · Privacy Console · rehearsal 2026-10-15 18:28 UTC · commit 37ec781</a:t>
            </a:r>
          </a:p>
        </p:txBody>
      </p:sp>
      <p:sp>
        <p:nvSpPr>
          <p:cNvPr id="14" name="chrome:page"/>
          <p:cNvSpPr txBox="1"/>
          <p:nvPr/>
        </p:nvSpPr>
        <p:spPr>
          <a:xfrm>
            <a:off x="10177272" y="643737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E141B"/>
                </a:solidFill>
                <a:latin typeface="Helvetica Neue"/>
              </a:rPr>
              <a:t>UI scanner: every screen filled, nothing submitted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L3 · UI SCANNER</a:t>
            </a:r>
          </a:p>
        </p:txBody>
      </p:sp>
      <p:sp>
        <p:nvSpPr>
          <p:cNvPr id="4" name="lede"/>
          <p:cNvSpPr txBox="1"/>
          <p:nvPr/>
        </p:nvSpPr>
        <p:spPr>
          <a:xfrm>
            <a:off x="548640" y="122529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D5875"/>
                </a:solidFill>
                <a:latin typeface="Helvetica Neue"/>
              </a:rPr>
              <a:t>The scanner maps the onboarding journey, classifies every field and shows each screen beside a copy filled with synthetic or obfuscated data.</a:t>
            </a:r>
          </a:p>
        </p:txBody>
      </p:sp>
      <p:pic>
        <p:nvPicPr>
          <p:cNvPr id="5" name="picture:screen-scan-parallel" descr="scan-parallel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675120" cy="4171950"/>
          </a:xfrm>
          <a:prstGeom prst="rect">
            <a:avLst/>
          </a:prstGeom>
          <a:ln w="9525">
            <a:solidFill>
              <a:srgbClr val="E0E5F0"/>
            </a:solidFill>
          </a:ln>
        </p:spPr>
      </p:pic>
      <p:sp>
        <p:nvSpPr>
          <p:cNvPr id="6" name="kpi:posts"/>
          <p:cNvSpPr/>
          <p:nvPr/>
        </p:nvSpPr>
        <p:spPr>
          <a:xfrm>
            <a:off x="7498080" y="1920240"/>
            <a:ext cx="414223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46304" rIns="146304" tIns="87782" bIns="87782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5875"/>
                </a:solidFill>
                <a:latin typeface="Helvetica Neue"/>
              </a:rPr>
              <a:t>Non-GET requests received by the site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047857"/>
                </a:solidFill>
                <a:latin typeface="Helvetica Neue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7E89A6"/>
                </a:solidFill>
                <a:latin typeface="Helvetica Neue"/>
              </a:rPr>
              <a:t>counted by the demo site, which served the scan 175 GETs; the browser blocked 60 sends</a:t>
            </a:r>
          </a:p>
        </p:txBody>
      </p:sp>
      <p:sp>
        <p:nvSpPr>
          <p:cNvPr id="7" name="kpi:pages"/>
          <p:cNvSpPr/>
          <p:nvPr/>
        </p:nvSpPr>
        <p:spPr>
          <a:xfrm>
            <a:off x="7498080" y="3429000"/>
            <a:ext cx="41422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46304" rIns="146304" tIns="87782" bIns="87782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D5875"/>
                </a:solidFill>
                <a:latin typeface="Helvetica Neue"/>
              </a:rPr>
              <a:t>Pages crawled  </a:t>
            </a:r>
            <a:r>
              <a:rPr sz="2200" b="1">
                <a:solidFill>
                  <a:srgbClr val="0F766E"/>
                </a:solidFill>
                <a:latin typeface="Helvetica Neue"/>
              </a:rPr>
              <a:t>21</a:t>
            </a:r>
          </a:p>
        </p:txBody>
      </p:sp>
      <p:sp>
        <p:nvSpPr>
          <p:cNvPr id="8" name="kpi:fields"/>
          <p:cNvSpPr/>
          <p:nvPr/>
        </p:nvSpPr>
        <p:spPr>
          <a:xfrm>
            <a:off x="7498080" y="4361688"/>
            <a:ext cx="41422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46304" rIns="146304" tIns="87782" bIns="87782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D5875"/>
                </a:solidFill>
                <a:latin typeface="Helvetica Neue"/>
              </a:rPr>
              <a:t>Fields classified  </a:t>
            </a:r>
            <a:r>
              <a:rPr sz="2200" b="1">
                <a:solidFill>
                  <a:srgbClr val="0F766E"/>
                </a:solidFill>
                <a:latin typeface="Helvetica Neue"/>
              </a:rPr>
              <a:t>63</a:t>
            </a:r>
          </a:p>
        </p:txBody>
      </p:sp>
      <p:sp>
        <p:nvSpPr>
          <p:cNvPr id="9" name="kpi:personas"/>
          <p:cNvSpPr/>
          <p:nvPr/>
        </p:nvSpPr>
        <p:spPr>
          <a:xfrm>
            <a:off x="7498080" y="5294376"/>
            <a:ext cx="41422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ctr" wrap="square" lIns="146304" rIns="146304" tIns="87782" bIns="87782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D5875"/>
                </a:solidFill>
                <a:latin typeface="Helvetica Neue"/>
              </a:rPr>
              <a:t>Personas filled in  </a:t>
            </a:r>
            <a:r>
              <a:rPr sz="2200" b="1">
                <a:solidFill>
                  <a:srgbClr val="0F766E"/>
                </a:solidFill>
                <a:latin typeface="Helvetica Neue"/>
              </a:rPr>
              <a:t>3</a:t>
            </a:r>
          </a:p>
        </p:txBody>
      </p:sp>
      <p:sp>
        <p:nvSpPr>
          <p:cNvPr id="10" name="chrome:footer"/>
          <p:cNvSpPr txBox="1"/>
          <p:nvPr/>
        </p:nvSpPr>
        <p:spPr>
          <a:xfrm>
            <a:off x="548640" y="643737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Data Privacy Services · Privacy Console · rehearsal 2026-10-15 18:28 UTC · commit 37ec781</a:t>
            </a:r>
          </a:p>
        </p:txBody>
      </p:sp>
      <p:sp>
        <p:nvSpPr>
          <p:cNvPr id="11" name="chrome:page"/>
          <p:cNvSpPr txBox="1"/>
          <p:nvPr/>
        </p:nvSpPr>
        <p:spPr>
          <a:xfrm>
            <a:off x="10177272" y="643737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E141B"/>
                </a:solidFill>
                <a:latin typeface="Helvetica Neue"/>
              </a:rPr>
              <a:t>Evidence for every job, posture at every boot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EVIDENCE · POSTURE</a:t>
            </a:r>
          </a:p>
        </p:txBody>
      </p:sp>
      <p:sp>
        <p:nvSpPr>
          <p:cNvPr id="4" name="lede"/>
          <p:cNvSpPr txBox="1"/>
          <p:nvPr/>
        </p:nvSpPr>
        <p:spPr>
          <a:xfrm>
            <a:off x="548640" y="122529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D5875"/>
                </a:solidFill>
                <a:latin typeface="Helvetica Neue"/>
              </a:rPr>
              <a:t>Packs name the policy hash, the methods and the verification; staging and production refuse to boot when a posture check enforced at boot fails.</a:t>
            </a:r>
          </a:p>
        </p:txBody>
      </p:sp>
      <p:pic>
        <p:nvPicPr>
          <p:cNvPr id="5" name="picture:screen-evidence" descr="evidence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675120" cy="4171950"/>
          </a:xfrm>
          <a:prstGeom prst="rect">
            <a:avLst/>
          </a:prstGeom>
          <a:ln w="9525">
            <a:solidFill>
              <a:srgbClr val="E0E5F0"/>
            </a:solidFill>
          </a:ln>
        </p:spPr>
      </p:pic>
      <p:sp>
        <p:nvSpPr>
          <p:cNvPr id="6" name="kpi:posture"/>
          <p:cNvSpPr/>
          <p:nvPr/>
        </p:nvSpPr>
        <p:spPr>
          <a:xfrm>
            <a:off x="7498080" y="1920240"/>
            <a:ext cx="414223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46304" rIns="146304" tIns="87782" bIns="87782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5875"/>
                </a:solidFill>
                <a:latin typeface="Helvetica Neue"/>
              </a:rPr>
              <a:t>Posture checks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B45309"/>
                </a:solidFill>
                <a:latin typeface="Helvetica Neue"/>
              </a:rPr>
              <a:t>5 of 11 passed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7E89A6"/>
                </a:solidFill>
                <a:latin typeface="Helvetica Neue"/>
              </a:rPr>
              <a:t>local stack, evaluated as if production; staging and production refuse to boot when a check enforced at boot fails</a:t>
            </a:r>
          </a:p>
        </p:txBody>
      </p:sp>
      <p:sp>
        <p:nvSpPr>
          <p:cNvPr id="7" name="kpi:llm-zero"/>
          <p:cNvSpPr/>
          <p:nvPr/>
        </p:nvSpPr>
        <p:spPr>
          <a:xfrm>
            <a:off x="7498080" y="3291840"/>
            <a:ext cx="414223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46304" rIns="146304" tIns="87782" bIns="87782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D5875"/>
                </a:solidFill>
                <a:latin typeface="Helvetica Neue"/>
              </a:rPr>
              <a:t>Values of raw PII sent to an LLM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047857"/>
                </a:solidFill>
                <a:latin typeface="Helvetica Neue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7E89A6"/>
                </a:solidFill>
                <a:latin typeface="Helvetica Neue"/>
              </a:rPr>
              <a:t>tenant retail-banking-apac, from the reports summary</a:t>
            </a:r>
          </a:p>
        </p:txBody>
      </p:sp>
      <p:sp>
        <p:nvSpPr>
          <p:cNvPr id="8" name="Oval 7"/>
          <p:cNvSpPr/>
          <p:nvPr/>
        </p:nvSpPr>
        <p:spPr>
          <a:xfrm>
            <a:off x="7498080" y="4498848"/>
            <a:ext cx="146304" cy="146304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35824" y="4434840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E141B"/>
                </a:solidFill>
                <a:latin typeface="Helvetica Neue"/>
              </a:rPr>
              <a:t>Evidence packs listed: 5</a:t>
            </a:r>
          </a:p>
        </p:txBody>
      </p:sp>
      <p:sp>
        <p:nvSpPr>
          <p:cNvPr id="10" name="Oval 9"/>
          <p:cNvSpPr/>
          <p:nvPr/>
        </p:nvSpPr>
        <p:spPr>
          <a:xfrm>
            <a:off x="7498080" y="4855464"/>
            <a:ext cx="146304" cy="146304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35824" y="4791456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E141B"/>
                </a:solidFill>
                <a:latin typeface="Helvetica Neue"/>
              </a:rPr>
              <a:t>Audit rows for the demo jobs: 32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0" y="5212080"/>
            <a:ext cx="146304" cy="146304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35824" y="5148072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E141B"/>
                </a:solidFill>
                <a:latin typeface="Helvetica Neue"/>
              </a:rPr>
              <a:t>Evidence PDF rendered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0" y="5568696"/>
            <a:ext cx="146304" cy="146304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4" y="5504688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E141B"/>
                </a:solidFill>
                <a:latin typeface="Helvetica Neue"/>
              </a:rPr>
              <a:t>A rotated key is refused: HTTP 401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0" y="5925312"/>
            <a:ext cx="146304" cy="146304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35824" y="5861304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E141B"/>
                </a:solidFill>
                <a:latin typeface="Helvetica Neue"/>
              </a:rPr>
              <a:t>Retention run (dry run): succeeded</a:t>
            </a:r>
          </a:p>
        </p:txBody>
      </p:sp>
      <p:sp>
        <p:nvSpPr>
          <p:cNvPr id="18" name="chrome:footer"/>
          <p:cNvSpPr txBox="1"/>
          <p:nvPr/>
        </p:nvSpPr>
        <p:spPr>
          <a:xfrm>
            <a:off x="548640" y="643737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Data Privacy Services · Privacy Console · rehearsal 2026-10-15 18:28 UTC · commit 37ec781</a:t>
            </a:r>
          </a:p>
        </p:txBody>
      </p:sp>
      <p:sp>
        <p:nvSpPr>
          <p:cNvPr id="19" name="chrome:page"/>
          <p:cNvSpPr txBox="1"/>
          <p:nvPr/>
        </p:nvSpPr>
        <p:spPr>
          <a:xfrm>
            <a:off x="10177272" y="643737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E141B"/>
                </a:solidFill>
                <a:latin typeface="Helvetica Neue"/>
              </a:rPr>
              <a:t>Decisions taken, and what comes next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Helvetica Neue"/>
              </a:rPr>
              <a:t>DECISIONS</a:t>
            </a:r>
          </a:p>
        </p:txBody>
      </p:sp>
      <p:sp>
        <p:nvSpPr>
          <p:cNvPr id="4" name="lede"/>
          <p:cNvSpPr txBox="1"/>
          <p:nvPr/>
        </p:nvSpPr>
        <p:spPr>
          <a:xfrm>
            <a:off x="548640" y="122529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D5875"/>
                </a:solidFill>
                <a:latin typeface="Helvetica Neue"/>
              </a:rPr>
              <a:t>The owner decided D1 to D4; D5 to D13 stand at the defaults of the design record; D14 is still open.</a:t>
            </a:r>
          </a:p>
        </p:txBody>
      </p:sp>
      <p:sp>
        <p:nvSpPr>
          <p:cNvPr id="5" name="decision:D1"/>
          <p:cNvSpPr/>
          <p:nvPr/>
        </p:nvSpPr>
        <p:spPr>
          <a:xfrm>
            <a:off x="548640" y="196596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6F2EE"/>
          </a:solidFill>
          <a:ln w="9525">
            <a:solidFill>
              <a:srgbClr val="047857"/>
            </a:solidFill>
          </a:ln>
        </p:spPr>
        <p:txBody>
          <a:bodyPr rtlCol="0" anchor="ctr" wrap="square" lIns="18288" rIns="18288" tIns="10973" bIns="10973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47857"/>
                </a:solidFill>
                <a:latin typeface="Helvetica Neue"/>
              </a:rPr>
              <a:t>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1911096"/>
            <a:ext cx="30906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Repository · </a:t>
            </a:r>
            <a:r>
              <a:rPr sz="1100" b="1">
                <a:solidFill>
                  <a:srgbClr val="047857"/>
                </a:solidFill>
                <a:latin typeface="Helvetica Neue"/>
              </a:rPr>
              <a:t>Decided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own git repo, nested in document_intelligence</a:t>
            </a:r>
          </a:p>
        </p:txBody>
      </p:sp>
      <p:sp>
        <p:nvSpPr>
          <p:cNvPr id="7" name="decision:D2"/>
          <p:cNvSpPr/>
          <p:nvPr/>
        </p:nvSpPr>
        <p:spPr>
          <a:xfrm>
            <a:off x="548640" y="256946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6F2EE"/>
          </a:solidFill>
          <a:ln w="9525">
            <a:solidFill>
              <a:srgbClr val="047857"/>
            </a:solidFill>
          </a:ln>
        </p:spPr>
        <p:txBody>
          <a:bodyPr rtlCol="0" anchor="ctr" wrap="square" lIns="18288" rIns="18288" tIns="10973" bIns="10973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47857"/>
                </a:solidFill>
                <a:latin typeface="Helvetica Neue"/>
              </a:rPr>
              <a:t>D2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514600"/>
            <a:ext cx="30906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Key custody · </a:t>
            </a:r>
            <a:r>
              <a:rPr sz="1100" b="1">
                <a:solidFill>
                  <a:srgbClr val="047857"/>
                </a:solidFill>
                <a:latin typeface="Helvetica Neue"/>
              </a:rPr>
              <a:t>Decided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stateless: the key is returned, DPS stores none</a:t>
            </a:r>
          </a:p>
        </p:txBody>
      </p:sp>
      <p:sp>
        <p:nvSpPr>
          <p:cNvPr id="9" name="decision:D3"/>
          <p:cNvSpPr/>
          <p:nvPr/>
        </p:nvSpPr>
        <p:spPr>
          <a:xfrm>
            <a:off x="548640" y="317296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6F2EE"/>
          </a:solidFill>
          <a:ln w="9525">
            <a:solidFill>
              <a:srgbClr val="047857"/>
            </a:solidFill>
          </a:ln>
        </p:spPr>
        <p:txBody>
          <a:bodyPr rtlCol="0" anchor="ctr" wrap="square" lIns="18288" rIns="18288" tIns="10973" bIns="10973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47857"/>
                </a:solidFill>
                <a:latin typeface="Helvetica Neue"/>
              </a:rPr>
              <a:t>D3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118104"/>
            <a:ext cx="30906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Write modes · </a:t>
            </a:r>
            <a:r>
              <a:rPr sz="1100" b="1">
                <a:solidFill>
                  <a:srgbClr val="047857"/>
                </a:solidFill>
                <a:latin typeface="Helvetica Neue"/>
              </a:rPr>
              <a:t>Decided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in place, append, table, files; confirmed writes</a:t>
            </a:r>
          </a:p>
        </p:txBody>
      </p:sp>
      <p:sp>
        <p:nvSpPr>
          <p:cNvPr id="11" name="decision:D4"/>
          <p:cNvSpPr/>
          <p:nvPr/>
        </p:nvSpPr>
        <p:spPr>
          <a:xfrm>
            <a:off x="548640" y="3776472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6F2EE"/>
          </a:solidFill>
          <a:ln w="9525">
            <a:solidFill>
              <a:srgbClr val="047857"/>
            </a:solidFill>
          </a:ln>
        </p:spPr>
        <p:txBody>
          <a:bodyPr rtlCol="0" anchor="ctr" wrap="square" lIns="18288" rIns="18288" tIns="10973" bIns="10973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47857"/>
                </a:solidFill>
                <a:latin typeface="Helvetica Neue"/>
              </a:rPr>
              <a:t>D4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721608"/>
            <a:ext cx="30906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UI scanner · </a:t>
            </a:r>
            <a:r>
              <a:rPr sz="1100" b="1">
                <a:solidFill>
                  <a:srgbClr val="047857"/>
                </a:solidFill>
                <a:latin typeface="Helvetica Neue"/>
              </a:rPr>
              <a:t>Decided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inventory and parallel view; no submissions at all</a:t>
            </a:r>
          </a:p>
        </p:txBody>
      </p:sp>
      <p:sp>
        <p:nvSpPr>
          <p:cNvPr id="13" name="decision:D5"/>
          <p:cNvSpPr/>
          <p:nvPr/>
        </p:nvSpPr>
        <p:spPr>
          <a:xfrm>
            <a:off x="548640" y="437997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18288" rIns="18288" tIns="10973" bIns="10973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D5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325112"/>
            <a:ext cx="30906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Jurisdictions · </a:t>
            </a:r>
            <a:r>
              <a:rPr sz="1100" b="1">
                <a:solidFill>
                  <a:srgbClr val="0F766E"/>
                </a:solidFill>
                <a:latin typeface="Helvetica Neue"/>
              </a:rPr>
              <a:t>Default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US, CA, MX, IN, UK and EU; NER in EN and ES</a:t>
            </a:r>
          </a:p>
        </p:txBody>
      </p:sp>
      <p:sp>
        <p:nvSpPr>
          <p:cNvPr id="15" name="decision:D6"/>
          <p:cNvSpPr/>
          <p:nvPr/>
        </p:nvSpPr>
        <p:spPr>
          <a:xfrm>
            <a:off x="548640" y="498348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18288" rIns="18288" tIns="10973" bIns="10973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D6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928616"/>
            <a:ext cx="30906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LLM path · </a:t>
            </a:r>
            <a:r>
              <a:rPr sz="1100" b="1">
                <a:solidFill>
                  <a:srgbClr val="0F766E"/>
                </a:solidFill>
                <a:latin typeface="Helvetica Neue"/>
              </a:rPr>
              <a:t>Default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Stellar with COIN OAuth2; Vertex on laptops; stub in CI</a:t>
            </a:r>
          </a:p>
        </p:txBody>
      </p:sp>
      <p:sp>
        <p:nvSpPr>
          <p:cNvPr id="17" name="decision:D7"/>
          <p:cNvSpPr/>
          <p:nvPr/>
        </p:nvSpPr>
        <p:spPr>
          <a:xfrm>
            <a:off x="548640" y="558698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18288" rIns="18288" tIns="10973" bIns="10973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D7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5532120"/>
            <a:ext cx="30906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Synthesis · </a:t>
            </a:r>
            <a:r>
              <a:rPr sz="1100" b="1">
                <a:solidFill>
                  <a:srgbClr val="0F766E"/>
                </a:solidFill>
                <a:latin typeface="Helvetica Neue"/>
              </a:rPr>
              <a:t>Default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surrogates and the built-in copula; MOSTLY AI optional</a:t>
            </a:r>
          </a:p>
        </p:txBody>
      </p:sp>
      <p:sp>
        <p:nvSpPr>
          <p:cNvPr id="19" name="decision:D8"/>
          <p:cNvSpPr/>
          <p:nvPr/>
        </p:nvSpPr>
        <p:spPr>
          <a:xfrm>
            <a:off x="4389120" y="196596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18288" rIns="18288" tIns="10973" bIns="10973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D8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1911096"/>
            <a:ext cx="30906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Reversible tokens · </a:t>
            </a:r>
            <a:r>
              <a:rPr sz="1100" b="1">
                <a:solidFill>
                  <a:srgbClr val="0F766E"/>
                </a:solidFill>
                <a:latin typeface="Helvetica Neue"/>
              </a:rPr>
              <a:t>Default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AES-SIV by default; FF1 after a licence review</a:t>
            </a:r>
          </a:p>
        </p:txBody>
      </p:sp>
      <p:sp>
        <p:nvSpPr>
          <p:cNvPr id="21" name="decision:D9"/>
          <p:cNvSpPr/>
          <p:nvPr/>
        </p:nvSpPr>
        <p:spPr>
          <a:xfrm>
            <a:off x="4389120" y="256946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18288" rIns="18288" tIns="10973" bIns="10973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D9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2514600"/>
            <a:ext cx="30906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Deployment · </a:t>
            </a:r>
            <a:r>
              <a:rPr sz="1100" b="1">
                <a:solidFill>
                  <a:srgbClr val="0F766E"/>
                </a:solidFill>
                <a:latin typeface="Helvetica Neue"/>
              </a:rPr>
              <a:t>Default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compose locally; OpenShift through kustomize</a:t>
            </a:r>
          </a:p>
        </p:txBody>
      </p:sp>
      <p:sp>
        <p:nvSpPr>
          <p:cNvPr id="23" name="decision:D10"/>
          <p:cNvSpPr/>
          <p:nvPr/>
        </p:nvSpPr>
        <p:spPr>
          <a:xfrm>
            <a:off x="4389120" y="317296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18288" rIns="18288" tIns="10973" bIns="10973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D10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3118104"/>
            <a:ext cx="30906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Documents · </a:t>
            </a:r>
            <a:r>
              <a:rPr sz="1100" b="1">
                <a:solidFill>
                  <a:srgbClr val="0F766E"/>
                </a:solidFill>
                <a:latin typeface="Helvetica Neue"/>
              </a:rPr>
              <a:t>Default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obfuscated text and findings; true redacted PDF</a:t>
            </a:r>
          </a:p>
        </p:txBody>
      </p:sp>
      <p:sp>
        <p:nvSpPr>
          <p:cNvPr id="25" name="decision:D11"/>
          <p:cNvSpPr/>
          <p:nvPr/>
        </p:nvSpPr>
        <p:spPr>
          <a:xfrm>
            <a:off x="4389120" y="3776472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18288" rIns="18288" tIns="10973" bIns="10973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D11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3721608"/>
            <a:ext cx="30906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Retention · </a:t>
            </a:r>
            <a:r>
              <a:rPr sz="1100" b="1">
                <a:solidFill>
                  <a:srgbClr val="0F766E"/>
                </a:solidFill>
                <a:latin typeface="Helvetica Neue"/>
              </a:rPr>
              <a:t>Default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job metadata and evidence per tenant; raw values never kept</a:t>
            </a:r>
          </a:p>
        </p:txBody>
      </p:sp>
      <p:sp>
        <p:nvSpPr>
          <p:cNvPr id="27" name="decision:D12"/>
          <p:cNvSpPr/>
          <p:nvPr/>
        </p:nvSpPr>
        <p:spPr>
          <a:xfrm>
            <a:off x="4389120" y="437997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18288" rIns="18288" tIns="10973" bIns="10973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D12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4325112"/>
            <a:ext cx="30906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Tenancy · </a:t>
            </a:r>
            <a:r>
              <a:rPr sz="1100" b="1">
                <a:solidFill>
                  <a:srgbClr val="0F766E"/>
                </a:solidFill>
                <a:latin typeface="Helvetica Neue"/>
              </a:rPr>
              <a:t>Default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X-API-KEY with tenant grants and scopes; SSO later</a:t>
            </a:r>
          </a:p>
        </p:txBody>
      </p:sp>
      <p:sp>
        <p:nvSpPr>
          <p:cNvPr id="29" name="decision:D13"/>
          <p:cNvSpPr/>
          <p:nvPr/>
        </p:nvSpPr>
        <p:spPr>
          <a:xfrm>
            <a:off x="4389120" y="498348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0F766E"/>
            </a:solidFill>
          </a:ln>
        </p:spPr>
        <p:txBody>
          <a:bodyPr rtlCol="0" anchor="ctr" wrap="square" lIns="18288" rIns="18288" tIns="10973" bIns="10973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Helvetica Neue"/>
              </a:rPr>
              <a:t>D13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4928616"/>
            <a:ext cx="30906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Naming · </a:t>
            </a:r>
            <a:r>
              <a:rPr sz="1100" b="1">
                <a:solidFill>
                  <a:srgbClr val="0F766E"/>
                </a:solidFill>
                <a:latin typeface="Helvetica Neue"/>
              </a:rPr>
              <a:t>Default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Data Privacy Services, Privacy Console, Vault</a:t>
            </a:r>
          </a:p>
        </p:txBody>
      </p:sp>
      <p:sp>
        <p:nvSpPr>
          <p:cNvPr id="31" name="decision:D14"/>
          <p:cNvSpPr/>
          <p:nvPr/>
        </p:nvSpPr>
        <p:spPr>
          <a:xfrm>
            <a:off x="4389120" y="558698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7EEE6"/>
          </a:solidFill>
          <a:ln w="9525">
            <a:solidFill>
              <a:srgbClr val="B45309"/>
            </a:solidFill>
          </a:ln>
        </p:spPr>
        <p:txBody>
          <a:bodyPr rtlCol="0" anchor="ctr" wrap="square" lIns="18288" rIns="18288" tIns="10973" bIns="10973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Helvetica Neue"/>
              </a:rPr>
              <a:t>D14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5532120"/>
            <a:ext cx="30906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141B"/>
                </a:solidFill>
                <a:latin typeface="Helvetica Neue"/>
              </a:rPr>
              <a:t>Scale targets · </a:t>
            </a:r>
            <a:r>
              <a:rPr sz="1100" b="1">
                <a:solidFill>
                  <a:srgbClr val="B45309"/>
                </a:solidFill>
                <a:latin typeface="Helvetica Neue"/>
              </a:rPr>
              <a:t>Open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D5875"/>
                </a:solidFill>
                <a:latin typeface="Helvetica Neue"/>
              </a:rPr>
              <a:t>payload size, rows per job, concurrent jobs, docs per day</a:t>
            </a:r>
          </a:p>
        </p:txBody>
      </p:sp>
      <p:sp>
        <p:nvSpPr>
          <p:cNvPr id="33" name="card:next"/>
          <p:cNvSpPr/>
          <p:nvPr/>
        </p:nvSpPr>
        <p:spPr>
          <a:xfrm>
            <a:off x="8321040" y="1965960"/>
            <a:ext cx="331927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5F0"/>
            </a:solidFill>
          </a:ln>
        </p:spPr>
        <p:txBody>
          <a:bodyPr rtlCol="0" anchor="t" wrap="square" lIns="182880" rIns="182880" tIns="109728" bIns="109728">
            <a:no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E141B"/>
                </a:solidFill>
                <a:latin typeface="Helvetica Neue"/>
              </a:rPr>
              <a:t>Next steps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4D5875"/>
                </a:solidFill>
                <a:latin typeface="Helvetica Neue"/>
              </a:rPr>
              <a:t>• Set the scale targets together (D14): they size batches, caps and the benchmark goals.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4D5875"/>
                </a:solidFill>
                <a:latin typeface="Helvetica Neue"/>
              </a:rPr>
              <a:t>• Run the FF1 licence review before format-preserving encryption is switched on (D8).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4D5875"/>
                </a:solidFill>
                <a:latin typeface="Helvetica Neue"/>
              </a:rPr>
              <a:t>• Connect the bank's tokenization service through the external_tokenize adapter.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4D5875"/>
                </a:solidFill>
                <a:latin typeface="Helvetica Neue"/>
              </a:rPr>
              <a:t>• Front the console with the bank's SSO and agree the quota day boundary (UTC today).</a:t>
            </a:r>
          </a:p>
        </p:txBody>
      </p:sp>
      <p:sp>
        <p:nvSpPr>
          <p:cNvPr id="34" name="chrome:footer"/>
          <p:cNvSpPr txBox="1"/>
          <p:nvPr/>
        </p:nvSpPr>
        <p:spPr>
          <a:xfrm>
            <a:off x="548640" y="643737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Data Privacy Services · Privacy Console · rehearsal 2026-10-15 18:28 UTC · commit 37ec781</a:t>
            </a:r>
          </a:p>
        </p:txBody>
      </p:sp>
      <p:sp>
        <p:nvSpPr>
          <p:cNvPr id="35" name="chrome:page"/>
          <p:cNvSpPr txBox="1"/>
          <p:nvPr/>
        </p:nvSpPr>
        <p:spPr>
          <a:xfrm>
            <a:off x="10177272" y="643737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E89A6"/>
                </a:solidFill>
                <a:latin typeface="Helvetica Neue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PS Vault">
      <a:dk1>
        <a:srgbClr val="0E141B"/>
      </a:dk1>
      <a:lt1>
        <a:srgbClr val="FFFFFF"/>
      </a:lt1>
      <a:dk2>
        <a:srgbClr val="4D5875"/>
      </a:dk2>
      <a:lt2>
        <a:srgbClr val="F4F6F8"/>
      </a:lt2>
      <a:accent1>
        <a:srgbClr val="0F766E"/>
      </a:accent1>
      <a:accent2>
        <a:srgbClr val="B45309"/>
      </a:accent2>
      <a:accent3>
        <a:srgbClr val="047857"/>
      </a:accent3>
      <a:accent4>
        <a:srgbClr val="BE123C"/>
      </a:accent4>
      <a:accent5>
        <a:srgbClr val="6D28D9"/>
      </a:accent5>
      <a:accent6>
        <a:srgbClr val="A16207"/>
      </a:accent6>
      <a:hlink>
        <a:srgbClr val="0F766E"/>
      </a:hlink>
      <a:folHlink>
        <a:srgbClr val="4D5875"/>
      </a:folHlink>
    </a:clrScheme>
    <a:fontScheme name="DPS Vaul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DPS Vault">
      <a:dk1>
        <a:srgbClr val="0E141B"/>
      </a:dk1>
      <a:lt1>
        <a:srgbClr val="FFFFFF"/>
      </a:lt1>
      <a:dk2>
        <a:srgbClr val="4D5875"/>
      </a:dk2>
      <a:lt2>
        <a:srgbClr val="F4F6F8"/>
      </a:lt2>
      <a:accent1>
        <a:srgbClr val="0F766E"/>
      </a:accent1>
      <a:accent2>
        <a:srgbClr val="B45309"/>
      </a:accent2>
      <a:accent3>
        <a:srgbClr val="047857"/>
      </a:accent3>
      <a:accent4>
        <a:srgbClr val="BE123C"/>
      </a:accent4>
      <a:accent5>
        <a:srgbClr val="6D28D9"/>
      </a:accent5>
      <a:accent6>
        <a:srgbClr val="A16207"/>
      </a:accent6>
      <a:hlink>
        <a:srgbClr val="0F766E"/>
      </a:hlink>
      <a:folHlink>
        <a:srgbClr val="4D5875"/>
      </a:folHlink>
    </a:clrScheme>
    <a:fontScheme name="DPS Vaul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Privacy Services — showcase</dc:title>
  <dc:subject>The ten-minute demo, measured</dc:subject>
  <dc:creator>Data Privacy Services</dc:creator>
  <cp:keywords>DPS; privacy; obfuscation; synthetic data; evidence</cp:keywords>
  <dc:description>Built by tools/build_deck.py from the e2e demo report; every figure was measured.</dc:description>
  <cp:lastModifiedBy>tools/build_deck.py</cp:lastModifiedBy>
  <cp:revision>1</cp:revision>
  <dcterms:created xsi:type="dcterms:W3CDTF">2026-10-15T18:28:52Z</dcterms:created>
  <dcterms:modified xsi:type="dcterms:W3CDTF">2026-10-15T18:28:52Z</dcterms:modified>
  <cp:category/>
  <cp:lastPrinted>2026-10-15T18:28:52Z</cp:lastPrinted>
</cp:coreProperties>
</file>